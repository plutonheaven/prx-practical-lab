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3" r:id="rId4"/>
  </p:sldMasterIdLst>
  <p:notesMasterIdLst>
    <p:notesMasterId r:id="rId31"/>
  </p:notesMasterIdLst>
  <p:sldIdLst>
    <p:sldId id="494" r:id="rId5"/>
    <p:sldId id="500" r:id="rId6"/>
    <p:sldId id="495" r:id="rId7"/>
    <p:sldId id="498" r:id="rId8"/>
    <p:sldId id="501" r:id="rId9"/>
    <p:sldId id="502" r:id="rId10"/>
    <p:sldId id="503" r:id="rId11"/>
    <p:sldId id="504" r:id="rId12"/>
    <p:sldId id="515" r:id="rId13"/>
    <p:sldId id="256" r:id="rId14"/>
    <p:sldId id="264" r:id="rId15"/>
    <p:sldId id="509" r:id="rId16"/>
    <p:sldId id="510" r:id="rId17"/>
    <p:sldId id="261" r:id="rId18"/>
    <p:sldId id="505" r:id="rId19"/>
    <p:sldId id="511" r:id="rId20"/>
    <p:sldId id="265" r:id="rId21"/>
    <p:sldId id="273" r:id="rId22"/>
    <p:sldId id="506" r:id="rId23"/>
    <p:sldId id="512" r:id="rId24"/>
    <p:sldId id="274" r:id="rId25"/>
    <p:sldId id="282" r:id="rId26"/>
    <p:sldId id="508" r:id="rId27"/>
    <p:sldId id="507" r:id="rId28"/>
    <p:sldId id="513" r:id="rId29"/>
    <p:sldId id="514" r:id="rId30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2564F09-DC9F-447C-A8C5-D4760F8EADC5}">
          <p14:sldIdLst>
            <p14:sldId id="494"/>
            <p14:sldId id="500"/>
            <p14:sldId id="495"/>
            <p14:sldId id="498"/>
            <p14:sldId id="501"/>
            <p14:sldId id="502"/>
            <p14:sldId id="503"/>
            <p14:sldId id="504"/>
            <p14:sldId id="515"/>
          </p14:sldIdLst>
        </p14:section>
        <p14:section name="Answers" id="{33746D98-59B1-4E66-A86F-A3B02C5E3C8D}">
          <p14:sldIdLst>
            <p14:sldId id="256"/>
            <p14:sldId id="264"/>
            <p14:sldId id="509"/>
            <p14:sldId id="510"/>
            <p14:sldId id="261"/>
            <p14:sldId id="505"/>
            <p14:sldId id="511"/>
            <p14:sldId id="265"/>
            <p14:sldId id="273"/>
            <p14:sldId id="506"/>
            <p14:sldId id="512"/>
            <p14:sldId id="274"/>
            <p14:sldId id="282"/>
            <p14:sldId id="508"/>
            <p14:sldId id="507"/>
            <p14:sldId id="513"/>
            <p14:sldId id="5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214" userDrawn="1">
          <p15:clr>
            <a:srgbClr val="A4A3A4"/>
          </p15:clr>
        </p15:guide>
        <p15:guide id="3" orient="horz" pos="854">
          <p15:clr>
            <a:srgbClr val="A4A3A4"/>
          </p15:clr>
        </p15:guide>
        <p15:guide id="4" orient="horz" pos="821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3151">
          <p15:clr>
            <a:srgbClr val="A4A3A4"/>
          </p15:clr>
        </p15:guide>
        <p15:guide id="7" pos="2880">
          <p15:clr>
            <a:srgbClr val="A4A3A4"/>
          </p15:clr>
        </p15:guide>
        <p15:guide id="8" pos="476">
          <p15:clr>
            <a:srgbClr val="A4A3A4"/>
          </p15:clr>
        </p15:guide>
        <p15:guide id="9" pos="5193">
          <p15:clr>
            <a:srgbClr val="A4A3A4"/>
          </p15:clr>
        </p15:guide>
        <p15:guide id="10" pos="54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FADBAD-3DC5-B1F0-9A02-D7D0E0B9B6FD}" name="Paul THEVENON" initials="PT" userId="S::Paul.THEVENON@enac.fr::f917978f-19a0-4957-89fc-d7c41e613fa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E1000F"/>
    <a:srgbClr val="B86A3E"/>
    <a:srgbClr val="F6630D"/>
    <a:srgbClr val="E0B245"/>
    <a:srgbClr val="2CFFC8"/>
    <a:srgbClr val="FF9900"/>
    <a:srgbClr val="FFFFFF"/>
    <a:srgbClr val="FFDBA7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 autoAdjust="0"/>
    <p:restoredTop sz="95033" autoAdjust="0"/>
  </p:normalViewPr>
  <p:slideViewPr>
    <p:cSldViewPr showGuides="1">
      <p:cViewPr varScale="1">
        <p:scale>
          <a:sx n="103" d="100"/>
          <a:sy n="103" d="100"/>
        </p:scale>
        <p:origin x="720" y="72"/>
      </p:cViewPr>
      <p:guideLst>
        <p:guide orient="horz" pos="1620"/>
        <p:guide orient="horz" pos="214"/>
        <p:guide orient="horz" pos="854"/>
        <p:guide orient="horz" pos="821"/>
        <p:guide orient="horz" pos="3049"/>
        <p:guide orient="horz" pos="3151"/>
        <p:guide pos="2880"/>
        <p:guide pos="476"/>
        <p:guide pos="5193"/>
        <p:guide pos="5465"/>
      </p:guideLst>
    </p:cSldViewPr>
  </p:slideViewPr>
  <p:outlineViewPr>
    <p:cViewPr>
      <p:scale>
        <a:sx n="33" d="100"/>
        <a:sy n="33" d="100"/>
      </p:scale>
      <p:origin x="0" y="-3572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158"/>
    </p:cViewPr>
  </p:sorterViewPr>
  <p:notesViewPr>
    <p:cSldViewPr>
      <p:cViewPr varScale="1">
        <p:scale>
          <a:sx n="97" d="100"/>
          <a:sy n="97" d="100"/>
        </p:scale>
        <p:origin x="368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20/11/2025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/ sous-titre /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A4F0766-6309-644C-9BCE-2E607A270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8713" y="4868862"/>
            <a:ext cx="1350000" cy="274637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9" name="Titre 18">
            <a:extLst>
              <a:ext uri="{FF2B5EF4-FFF2-40B4-BE49-F238E27FC236}">
                <a16:creationId xmlns:a16="http://schemas.microsoft.com/office/drawing/2014/main" id="{8B219A12-DAFE-504E-9ED9-CFD78BD6A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defTabSz="457200">
              <a:defRPr/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0AF74C14-DE22-FE4D-B865-03FBE975D5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79512" y="735324"/>
            <a:ext cx="8784976" cy="4133538"/>
          </a:xfrm>
        </p:spPr>
        <p:txBody>
          <a:bodyPr wrap="square">
            <a:normAutofit/>
          </a:bodyPr>
          <a:lstStyle>
            <a:lvl1pPr marL="228600" indent="-228600" defTabSz="457200">
              <a:spcBef>
                <a:spcPts val="300"/>
              </a:spcBef>
              <a:spcAft>
                <a:spcPts val="300"/>
              </a:spcAft>
              <a:buClr>
                <a:srgbClr val="00B0F0"/>
              </a:buClr>
              <a:buSzPct val="120000"/>
              <a:buFont typeface="Calibri" panose="020F0502020204030204" pitchFamily="34" charset="0"/>
              <a:buChar char="•"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01638" indent="-171450" defTabSz="457200">
              <a:spcBef>
                <a:spcPts val="100"/>
              </a:spcBef>
              <a:spcAft>
                <a:spcPts val="100"/>
              </a:spcAft>
              <a:buClr>
                <a:srgbClr val="00B0F0"/>
              </a:buClr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30238" indent="-171450" defTabSz="457200">
              <a:spcBef>
                <a:spcPts val="100"/>
              </a:spcBef>
              <a:spcAft>
                <a:spcPts val="100"/>
              </a:spcAft>
              <a:buClr>
                <a:srgbClr val="00B0F0"/>
              </a:buClr>
              <a:buFont typeface="Calibri" panose="020F0502020204030204" pitchFamily="34" charset="0"/>
              <a:buChar char="‒"/>
              <a:defRPr sz="14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803275" indent="-171450" defTabSz="457200">
              <a:spcBef>
                <a:spcPts val="100"/>
              </a:spcBef>
              <a:spcAft>
                <a:spcPts val="100"/>
              </a:spcAft>
              <a:buClr>
                <a:srgbClr val="00B0F0"/>
              </a:buClr>
              <a:buFont typeface="Calibri" panose="020F0502020204030204" pitchFamily="34" charset="0"/>
              <a:buChar char="‐"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969963" indent="-171450">
              <a:spcBef>
                <a:spcPts val="300"/>
              </a:spcBef>
              <a:spcAft>
                <a:spcPts val="300"/>
              </a:spcAft>
              <a:tabLst>
                <a:tab pos="1031875" algn="l"/>
              </a:tabLst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</p:txBody>
      </p:sp>
    </p:spTree>
    <p:extLst>
      <p:ext uri="{BB962C8B-B14F-4D97-AF65-F5344CB8AC3E}">
        <p14:creationId xmlns:p14="http://schemas.microsoft.com/office/powerpoint/2010/main" val="2724193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829DF172-12F0-D244-8F51-E16DC05073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52000" y="252000"/>
            <a:ext cx="1440000" cy="1440000"/>
          </a:xfrm>
          <a:prstGeom prst="rect">
            <a:avLst/>
          </a:prstGeom>
        </p:spPr>
      </p:pic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23850" y="2139702"/>
            <a:ext cx="8424000" cy="2293224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/>
            </a:lvl1pPr>
            <a:lvl2pPr marL="92075" indent="0">
              <a:spcBef>
                <a:spcPts val="500"/>
              </a:spcBef>
              <a:spcAft>
                <a:spcPts val="0"/>
              </a:spcAft>
              <a:buNone/>
              <a:tabLst/>
              <a:defRPr sz="18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cxnSp>
        <p:nvCxnSpPr>
          <p:cNvPr id="12" name="Connecteur droit 11"/>
          <p:cNvCxnSpPr>
            <a:cxnSpLocks/>
          </p:cNvCxnSpPr>
          <p:nvPr/>
        </p:nvCxnSpPr>
        <p:spPr bwMode="gray">
          <a:xfrm>
            <a:off x="320040" y="4876006"/>
            <a:ext cx="8424614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e la date 3">
            <a:extLst>
              <a:ext uri="{FF2B5EF4-FFF2-40B4-BE49-F238E27FC236}">
                <a16:creationId xmlns:a16="http://schemas.microsoft.com/office/drawing/2014/main" id="{C192E6B1-2CEB-FB47-B10B-D25D43DF8D96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323850" y="4886506"/>
            <a:ext cx="1210435" cy="25699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endParaRPr lang="fr-FR" cap="all" dirty="0"/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0593ECE3-ACEF-7441-BABB-08F519CCE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398713" y="4876006"/>
            <a:ext cx="1350000" cy="26749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87E81C9-D6DD-B94D-86DC-CA40CAA62D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2772" y="337080"/>
            <a:ext cx="1500915" cy="115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81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829DF172-12F0-D244-8F51-E16DC05073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784283" y="402003"/>
            <a:ext cx="1440000" cy="1440000"/>
          </a:xfrm>
          <a:prstGeom prst="rect">
            <a:avLst/>
          </a:prstGeom>
        </p:spPr>
      </p:pic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23850" y="2139702"/>
            <a:ext cx="8424000" cy="2293224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/>
            </a:lvl1pPr>
            <a:lvl2pPr marL="92075" indent="0">
              <a:spcBef>
                <a:spcPts val="500"/>
              </a:spcBef>
              <a:spcAft>
                <a:spcPts val="0"/>
              </a:spcAft>
              <a:buNone/>
              <a:tabLst/>
              <a:defRPr sz="1850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  <p:cxnSp>
        <p:nvCxnSpPr>
          <p:cNvPr id="12" name="Connecteur droit 11"/>
          <p:cNvCxnSpPr>
            <a:cxnSpLocks/>
          </p:cNvCxnSpPr>
          <p:nvPr/>
        </p:nvCxnSpPr>
        <p:spPr bwMode="gray">
          <a:xfrm>
            <a:off x="320040" y="4876006"/>
            <a:ext cx="8424614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e la date 3">
            <a:extLst>
              <a:ext uri="{FF2B5EF4-FFF2-40B4-BE49-F238E27FC236}">
                <a16:creationId xmlns:a16="http://schemas.microsoft.com/office/drawing/2014/main" id="{C192E6B1-2CEB-FB47-B10B-D25D43DF8D96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323850" y="4886506"/>
            <a:ext cx="1210435" cy="25699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endParaRPr lang="fr-FR" cap="all" dirty="0"/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0593ECE3-ACEF-7441-BABB-08F519CCE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398713" y="4876006"/>
            <a:ext cx="1350000" cy="26749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87E81C9-D6DD-B94D-86DC-CA40CAA62D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5055" y="487083"/>
            <a:ext cx="1500915" cy="115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574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963500"/>
            <a:ext cx="180000" cy="18000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720000" y="4371949"/>
            <a:ext cx="3240000" cy="447947"/>
          </a:xfrm>
          <a:prstGeom prst="rect">
            <a:avLst/>
          </a:prstGeom>
        </p:spPr>
        <p:txBody>
          <a:bodyPr anchor="ctr" anchorCtr="0"/>
          <a:lstStyle>
            <a:lvl1pPr algn="l">
              <a:defRPr sz="1150"/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496350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18000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A456506-B875-0447-AE4C-DB90090465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40000" y="360000"/>
            <a:ext cx="2700000" cy="2700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71008AE-6411-8147-95C4-8C34BDF0E9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04248" y="376736"/>
            <a:ext cx="2045088" cy="157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407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5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79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323850" y="734464"/>
            <a:ext cx="8424863" cy="414407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7398713" y="4876800"/>
            <a:ext cx="1350000" cy="26669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cxnSp>
        <p:nvCxnSpPr>
          <p:cNvPr id="10" name="Connecteur droit 9"/>
          <p:cNvCxnSpPr>
            <a:cxnSpLocks/>
          </p:cNvCxnSpPr>
          <p:nvPr/>
        </p:nvCxnSpPr>
        <p:spPr bwMode="gray">
          <a:xfrm>
            <a:off x="323850" y="4876006"/>
            <a:ext cx="8424614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itre 11">
            <a:extLst>
              <a:ext uri="{FF2B5EF4-FFF2-40B4-BE49-F238E27FC236}">
                <a16:creationId xmlns:a16="http://schemas.microsoft.com/office/drawing/2014/main" id="{59FB2B3E-557E-DB42-9DB7-D6A72FD3A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40" y="78768"/>
            <a:ext cx="7683870" cy="5399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Titre 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921EE98-A0EA-AE49-A902-478042AA6CF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88000" y="108000"/>
            <a:ext cx="540000" cy="5400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754A3AE-BFE2-AE42-BEA3-BF3FE0325910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584" y="165231"/>
            <a:ext cx="504056" cy="38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92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9" r:id="rId2"/>
    <p:sldLayoutId id="2147483822" r:id="rId3"/>
    <p:sldLayoutId id="2147483821" r:id="rId4"/>
    <p:sldLayoutId id="2147483823" r:id="rId5"/>
    <p:sldLayoutId id="2147483824" r:id="rId6"/>
  </p:sldLayoutIdLst>
  <p:hf hdr="0" ftr="0" dt="0"/>
  <p:txStyles>
    <p:titleStyle>
      <a:lvl1pPr marL="14288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5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2075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itchFamily="34" charset="0"/>
        <a:buNone/>
        <a:tabLst/>
        <a:defRPr sz="2000" b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35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531450" indent="-17145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Wingdings" pitchFamily="2" charset="2"/>
        <a:buChar char="§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711450" indent="-17145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927450" indent="-17145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Wingdings" pitchFamily="2" charset="2"/>
        <a:buChar char="§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indent="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15C80C-F606-F54E-D636-37431E81AE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en-US" cap="none" dirty="0"/>
              <a:t>GNSS Positioning Algorithms</a:t>
            </a:r>
          </a:p>
          <a:p>
            <a:pPr algn="ctr"/>
            <a:r>
              <a:rPr lang="en-US" cap="none" dirty="0"/>
              <a:t>Practical Works</a:t>
            </a:r>
          </a:p>
          <a:p>
            <a:pPr algn="ctr"/>
            <a:r>
              <a:rPr lang="en-US" sz="2000" b="0" cap="none" dirty="0"/>
              <a:t>November 2024</a:t>
            </a:r>
          </a:p>
          <a:p>
            <a:pPr algn="ctr"/>
            <a:endParaRPr lang="en-US" sz="2800" b="0" cap="none" dirty="0"/>
          </a:p>
          <a:p>
            <a:pPr algn="ctr"/>
            <a:r>
              <a:rPr lang="en-US" sz="2400" b="0" cap="none" dirty="0"/>
              <a:t>Paul </a:t>
            </a:r>
            <a:r>
              <a:rPr lang="en-US" sz="2400" b="0" cap="none" dirty="0" err="1"/>
              <a:t>Thevenon</a:t>
            </a:r>
            <a:r>
              <a:rPr lang="en-US" sz="2400" b="0" cap="none" dirty="0"/>
              <a:t>, ENAC</a:t>
            </a:r>
          </a:p>
          <a:p>
            <a:pPr algn="ctr"/>
            <a:r>
              <a:rPr lang="en-US" sz="2400" b="0" cap="none" dirty="0"/>
              <a:t>Jan Bolting, </a:t>
            </a:r>
            <a:r>
              <a:rPr lang="en-US" sz="2400" b="0" cap="none" dirty="0" err="1"/>
              <a:t>SwiftNav</a:t>
            </a:r>
            <a:endParaRPr lang="en-US" sz="2400" b="0" cap="non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D01973-15A1-E94A-CCCA-5B3DCC9CD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6198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F5C243-6AD1-6096-1A8C-4BE692FBF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E59219-D531-80C9-7629-8A00C1471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Positioning Algorithm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28DCC-6535-9736-C213-8428644D31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Corde 2">
            <a:extLst>
              <a:ext uri="{FF2B5EF4-FFF2-40B4-BE49-F238E27FC236}">
                <a16:creationId xmlns:a16="http://schemas.microsoft.com/office/drawing/2014/main" id="{7DD7CF75-7DD6-0EE2-FB76-08E789CD0A29}"/>
              </a:ext>
            </a:extLst>
          </p:cNvPr>
          <p:cNvSpPr/>
          <p:nvPr/>
        </p:nvSpPr>
        <p:spPr>
          <a:xfrm rot="8047738">
            <a:off x="293787" y="1383845"/>
            <a:ext cx="720080" cy="722376"/>
          </a:xfrm>
          <a:prstGeom prst="chord">
            <a:avLst>
              <a:gd name="adj1" fmla="val 2700000"/>
              <a:gd name="adj2" fmla="val 13460622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 : coins arrondis 3">
            <a:extLst>
              <a:ext uri="{FF2B5EF4-FFF2-40B4-BE49-F238E27FC236}">
                <a16:creationId xmlns:a16="http://schemas.microsoft.com/office/drawing/2014/main" id="{7A7171B2-9AE5-7C8F-D22C-35C5604912DF}"/>
              </a:ext>
            </a:extLst>
          </p:cNvPr>
          <p:cNvSpPr/>
          <p:nvPr/>
        </p:nvSpPr>
        <p:spPr>
          <a:xfrm>
            <a:off x="1179354" y="1627117"/>
            <a:ext cx="1180378" cy="687003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RF</a:t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Front-end</a:t>
            </a:r>
          </a:p>
        </p:txBody>
      </p:sp>
      <p:sp>
        <p:nvSpPr>
          <p:cNvPr id="20" name="Rectangle : coins arrondis 8">
            <a:extLst>
              <a:ext uri="{FF2B5EF4-FFF2-40B4-BE49-F238E27FC236}">
                <a16:creationId xmlns:a16="http://schemas.microsoft.com/office/drawing/2014/main" id="{1A41FCB5-F75B-90CE-4454-7C9E5D406E0A}"/>
              </a:ext>
            </a:extLst>
          </p:cNvPr>
          <p:cNvSpPr/>
          <p:nvPr/>
        </p:nvSpPr>
        <p:spPr>
          <a:xfrm>
            <a:off x="3555618" y="1626860"/>
            <a:ext cx="1180378" cy="687003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Baseband Signal Processing</a:t>
            </a:r>
          </a:p>
        </p:txBody>
      </p:sp>
      <p:sp>
        <p:nvSpPr>
          <p:cNvPr id="21" name="Rectangle : coins arrondis 11">
            <a:extLst>
              <a:ext uri="{FF2B5EF4-FFF2-40B4-BE49-F238E27FC236}">
                <a16:creationId xmlns:a16="http://schemas.microsoft.com/office/drawing/2014/main" id="{9BB867B3-9430-5500-6082-0E75FCB50084}"/>
              </a:ext>
            </a:extLst>
          </p:cNvPr>
          <p:cNvSpPr/>
          <p:nvPr/>
        </p:nvSpPr>
        <p:spPr>
          <a:xfrm>
            <a:off x="6574126" y="1628629"/>
            <a:ext cx="1180378" cy="687003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Navigation Algorithm</a:t>
            </a:r>
          </a:p>
        </p:txBody>
      </p:sp>
      <p:cxnSp>
        <p:nvCxnSpPr>
          <p:cNvPr id="22" name="Connecteur : en angle 7">
            <a:extLst>
              <a:ext uri="{FF2B5EF4-FFF2-40B4-BE49-F238E27FC236}">
                <a16:creationId xmlns:a16="http://schemas.microsoft.com/office/drawing/2014/main" id="{F0D0A80C-FAE5-689C-D6BF-07D668D04A43}"/>
              </a:ext>
            </a:extLst>
          </p:cNvPr>
          <p:cNvCxnSpPr>
            <a:cxnSpLocks/>
            <a:stCxn id="18" idx="2"/>
            <a:endCxn id="19" idx="1"/>
          </p:cNvCxnSpPr>
          <p:nvPr/>
        </p:nvCxnSpPr>
        <p:spPr>
          <a:xfrm rot="16200000" flipH="1">
            <a:off x="802742" y="1594005"/>
            <a:ext cx="227649" cy="525577"/>
          </a:xfrm>
          <a:prstGeom prst="bentConnector4">
            <a:avLst>
              <a:gd name="adj1" fmla="val 100418"/>
              <a:gd name="adj2" fmla="val 84257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cxnSp>
        <p:nvCxnSpPr>
          <p:cNvPr id="23" name="Connecteur : en angle 16">
            <a:extLst>
              <a:ext uri="{FF2B5EF4-FFF2-40B4-BE49-F238E27FC236}">
                <a16:creationId xmlns:a16="http://schemas.microsoft.com/office/drawing/2014/main" id="{BDF36402-477D-774B-A7C1-B143CB1414E6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2359732" y="1970362"/>
            <a:ext cx="1195886" cy="257"/>
          </a:xfrm>
          <a:prstGeom prst="bentConnector3">
            <a:avLst>
              <a:gd name="adj1" fmla="val 50000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cxnSp>
        <p:nvCxnSpPr>
          <p:cNvPr id="24" name="Connecteur : en angle 19">
            <a:extLst>
              <a:ext uri="{FF2B5EF4-FFF2-40B4-BE49-F238E27FC236}">
                <a16:creationId xmlns:a16="http://schemas.microsoft.com/office/drawing/2014/main" id="{44DB4AF6-DD0F-4B43-1C4A-FC1F4A5ADCF7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4735996" y="1970362"/>
            <a:ext cx="1838130" cy="1769"/>
          </a:xfrm>
          <a:prstGeom prst="bentConnector3">
            <a:avLst>
              <a:gd name="adj1" fmla="val 50000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cxnSp>
        <p:nvCxnSpPr>
          <p:cNvPr id="25" name="Connecteur : en angle 22">
            <a:extLst>
              <a:ext uri="{FF2B5EF4-FFF2-40B4-BE49-F238E27FC236}">
                <a16:creationId xmlns:a16="http://schemas.microsoft.com/office/drawing/2014/main" id="{A6DA865D-382E-7552-6C04-CDD9233EE824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7754504" y="1972130"/>
            <a:ext cx="1091842" cy="1262"/>
          </a:xfrm>
          <a:prstGeom prst="bentConnector3">
            <a:avLst>
              <a:gd name="adj1" fmla="val 50000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sp>
        <p:nvSpPr>
          <p:cNvPr id="26" name="ZoneTexte 26">
            <a:extLst>
              <a:ext uri="{FF2B5EF4-FFF2-40B4-BE49-F238E27FC236}">
                <a16:creationId xmlns:a16="http://schemas.microsoft.com/office/drawing/2014/main" id="{3837EF8C-BEAC-F633-F5AC-61DB59AE439E}"/>
              </a:ext>
            </a:extLst>
          </p:cNvPr>
          <p:cNvSpPr txBox="1"/>
          <p:nvPr/>
        </p:nvSpPr>
        <p:spPr>
          <a:xfrm>
            <a:off x="2403491" y="1139703"/>
            <a:ext cx="1058311" cy="646331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Intermediate Frequency Samples</a:t>
            </a:r>
          </a:p>
        </p:txBody>
      </p:sp>
      <p:sp>
        <p:nvSpPr>
          <p:cNvPr id="27" name="ZoneTexte 27">
            <a:extLst>
              <a:ext uri="{FF2B5EF4-FFF2-40B4-BE49-F238E27FC236}">
                <a16:creationId xmlns:a16="http://schemas.microsoft.com/office/drawing/2014/main" id="{C406557C-CAF8-428A-3AA1-7B1DDDDDAC88}"/>
              </a:ext>
            </a:extLst>
          </p:cNvPr>
          <p:cNvSpPr txBox="1"/>
          <p:nvPr/>
        </p:nvSpPr>
        <p:spPr>
          <a:xfrm>
            <a:off x="4847570" y="1089391"/>
            <a:ext cx="1588368" cy="830997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Code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Carrier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Doppler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Navigation data bits</a:t>
            </a:r>
          </a:p>
        </p:txBody>
      </p:sp>
      <p:sp>
        <p:nvSpPr>
          <p:cNvPr id="28" name="ZoneTexte 28">
            <a:extLst>
              <a:ext uri="{FF2B5EF4-FFF2-40B4-BE49-F238E27FC236}">
                <a16:creationId xmlns:a16="http://schemas.microsoft.com/office/drawing/2014/main" id="{B290B264-4843-8981-D9B0-F2577E2AAE5E}"/>
              </a:ext>
            </a:extLst>
          </p:cNvPr>
          <p:cNvSpPr txBox="1"/>
          <p:nvPr/>
        </p:nvSpPr>
        <p:spPr>
          <a:xfrm>
            <a:off x="7804091" y="1160360"/>
            <a:ext cx="1100295" cy="646331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Position, Velocity, Timing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2FEF11E-3742-3364-787C-9C7B49D2E90D}"/>
              </a:ext>
            </a:extLst>
          </p:cNvPr>
          <p:cNvSpPr/>
          <p:nvPr/>
        </p:nvSpPr>
        <p:spPr>
          <a:xfrm>
            <a:off x="4701527" y="715617"/>
            <a:ext cx="4442473" cy="1967948"/>
          </a:xfrm>
          <a:prstGeom prst="ellipse">
            <a:avLst/>
          </a:prstGeom>
          <a:noFill/>
          <a:ln w="76200" cap="flat" cmpd="sng" algn="ctr">
            <a:solidFill>
              <a:srgbClr val="F79646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8794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F5C243-6AD1-6096-1A8C-4BE692FBF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E59219-D531-80C9-7629-8A00C1471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Positioning Algorithm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28DCC-6535-9736-C213-8428644D31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Corde 2">
            <a:extLst>
              <a:ext uri="{FF2B5EF4-FFF2-40B4-BE49-F238E27FC236}">
                <a16:creationId xmlns:a16="http://schemas.microsoft.com/office/drawing/2014/main" id="{7DD7CF75-7DD6-0EE2-FB76-08E789CD0A29}"/>
              </a:ext>
            </a:extLst>
          </p:cNvPr>
          <p:cNvSpPr/>
          <p:nvPr/>
        </p:nvSpPr>
        <p:spPr>
          <a:xfrm rot="8047738">
            <a:off x="293787" y="1383845"/>
            <a:ext cx="720080" cy="722376"/>
          </a:xfrm>
          <a:prstGeom prst="chord">
            <a:avLst>
              <a:gd name="adj1" fmla="val 2700000"/>
              <a:gd name="adj2" fmla="val 13460622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 : coins arrondis 3">
            <a:extLst>
              <a:ext uri="{FF2B5EF4-FFF2-40B4-BE49-F238E27FC236}">
                <a16:creationId xmlns:a16="http://schemas.microsoft.com/office/drawing/2014/main" id="{7A7171B2-9AE5-7C8F-D22C-35C5604912DF}"/>
              </a:ext>
            </a:extLst>
          </p:cNvPr>
          <p:cNvSpPr/>
          <p:nvPr/>
        </p:nvSpPr>
        <p:spPr>
          <a:xfrm>
            <a:off x="1179354" y="1627117"/>
            <a:ext cx="1180378" cy="687003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RF</a:t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Front-end</a:t>
            </a:r>
          </a:p>
        </p:txBody>
      </p:sp>
      <p:sp>
        <p:nvSpPr>
          <p:cNvPr id="20" name="Rectangle : coins arrondis 8">
            <a:extLst>
              <a:ext uri="{FF2B5EF4-FFF2-40B4-BE49-F238E27FC236}">
                <a16:creationId xmlns:a16="http://schemas.microsoft.com/office/drawing/2014/main" id="{1A41FCB5-F75B-90CE-4454-7C9E5D406E0A}"/>
              </a:ext>
            </a:extLst>
          </p:cNvPr>
          <p:cNvSpPr/>
          <p:nvPr/>
        </p:nvSpPr>
        <p:spPr>
          <a:xfrm>
            <a:off x="3555618" y="1626860"/>
            <a:ext cx="1180378" cy="687003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Baseband Signal Processing</a:t>
            </a:r>
          </a:p>
        </p:txBody>
      </p:sp>
      <p:sp>
        <p:nvSpPr>
          <p:cNvPr id="21" name="Rectangle : coins arrondis 11">
            <a:extLst>
              <a:ext uri="{FF2B5EF4-FFF2-40B4-BE49-F238E27FC236}">
                <a16:creationId xmlns:a16="http://schemas.microsoft.com/office/drawing/2014/main" id="{9BB867B3-9430-5500-6082-0E75FCB50084}"/>
              </a:ext>
            </a:extLst>
          </p:cNvPr>
          <p:cNvSpPr/>
          <p:nvPr/>
        </p:nvSpPr>
        <p:spPr>
          <a:xfrm>
            <a:off x="6574126" y="1628629"/>
            <a:ext cx="1180378" cy="687003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Navigation Algorithm</a:t>
            </a:r>
          </a:p>
        </p:txBody>
      </p:sp>
      <p:cxnSp>
        <p:nvCxnSpPr>
          <p:cNvPr id="22" name="Connecteur : en angle 7">
            <a:extLst>
              <a:ext uri="{FF2B5EF4-FFF2-40B4-BE49-F238E27FC236}">
                <a16:creationId xmlns:a16="http://schemas.microsoft.com/office/drawing/2014/main" id="{F0D0A80C-FAE5-689C-D6BF-07D668D04A43}"/>
              </a:ext>
            </a:extLst>
          </p:cNvPr>
          <p:cNvCxnSpPr>
            <a:cxnSpLocks/>
            <a:stCxn id="18" idx="2"/>
            <a:endCxn id="19" idx="1"/>
          </p:cNvCxnSpPr>
          <p:nvPr/>
        </p:nvCxnSpPr>
        <p:spPr>
          <a:xfrm rot="16200000" flipH="1">
            <a:off x="802742" y="1594005"/>
            <a:ext cx="227649" cy="525577"/>
          </a:xfrm>
          <a:prstGeom prst="bentConnector4">
            <a:avLst>
              <a:gd name="adj1" fmla="val 100418"/>
              <a:gd name="adj2" fmla="val 84257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cxnSp>
        <p:nvCxnSpPr>
          <p:cNvPr id="23" name="Connecteur : en angle 16">
            <a:extLst>
              <a:ext uri="{FF2B5EF4-FFF2-40B4-BE49-F238E27FC236}">
                <a16:creationId xmlns:a16="http://schemas.microsoft.com/office/drawing/2014/main" id="{BDF36402-477D-774B-A7C1-B143CB1414E6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2359732" y="1970362"/>
            <a:ext cx="1195886" cy="257"/>
          </a:xfrm>
          <a:prstGeom prst="bentConnector3">
            <a:avLst>
              <a:gd name="adj1" fmla="val 50000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cxnSp>
        <p:nvCxnSpPr>
          <p:cNvPr id="24" name="Connecteur : en angle 19">
            <a:extLst>
              <a:ext uri="{FF2B5EF4-FFF2-40B4-BE49-F238E27FC236}">
                <a16:creationId xmlns:a16="http://schemas.microsoft.com/office/drawing/2014/main" id="{44DB4AF6-DD0F-4B43-1C4A-FC1F4A5ADCF7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4735996" y="1970362"/>
            <a:ext cx="1838130" cy="1769"/>
          </a:xfrm>
          <a:prstGeom prst="bentConnector3">
            <a:avLst>
              <a:gd name="adj1" fmla="val 50000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cxnSp>
        <p:nvCxnSpPr>
          <p:cNvPr id="25" name="Connecteur : en angle 22">
            <a:extLst>
              <a:ext uri="{FF2B5EF4-FFF2-40B4-BE49-F238E27FC236}">
                <a16:creationId xmlns:a16="http://schemas.microsoft.com/office/drawing/2014/main" id="{A6DA865D-382E-7552-6C04-CDD9233EE824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7754504" y="1972130"/>
            <a:ext cx="1091842" cy="1262"/>
          </a:xfrm>
          <a:prstGeom prst="bentConnector3">
            <a:avLst>
              <a:gd name="adj1" fmla="val 50000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sp>
        <p:nvSpPr>
          <p:cNvPr id="26" name="ZoneTexte 26">
            <a:extLst>
              <a:ext uri="{FF2B5EF4-FFF2-40B4-BE49-F238E27FC236}">
                <a16:creationId xmlns:a16="http://schemas.microsoft.com/office/drawing/2014/main" id="{3837EF8C-BEAC-F633-F5AC-61DB59AE439E}"/>
              </a:ext>
            </a:extLst>
          </p:cNvPr>
          <p:cNvSpPr txBox="1"/>
          <p:nvPr/>
        </p:nvSpPr>
        <p:spPr>
          <a:xfrm>
            <a:off x="2403491" y="1139703"/>
            <a:ext cx="1058311" cy="646331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Intermediate Frequency Samples</a:t>
            </a:r>
          </a:p>
        </p:txBody>
      </p:sp>
      <p:sp>
        <p:nvSpPr>
          <p:cNvPr id="27" name="ZoneTexte 27">
            <a:extLst>
              <a:ext uri="{FF2B5EF4-FFF2-40B4-BE49-F238E27FC236}">
                <a16:creationId xmlns:a16="http://schemas.microsoft.com/office/drawing/2014/main" id="{C406557C-CAF8-428A-3AA1-7B1DDDDDAC88}"/>
              </a:ext>
            </a:extLst>
          </p:cNvPr>
          <p:cNvSpPr txBox="1"/>
          <p:nvPr/>
        </p:nvSpPr>
        <p:spPr>
          <a:xfrm>
            <a:off x="4847570" y="1089391"/>
            <a:ext cx="1588368" cy="830997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Code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Carrier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Doppler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Navigation data bits</a:t>
            </a:r>
          </a:p>
        </p:txBody>
      </p:sp>
      <p:sp>
        <p:nvSpPr>
          <p:cNvPr id="28" name="ZoneTexte 28">
            <a:extLst>
              <a:ext uri="{FF2B5EF4-FFF2-40B4-BE49-F238E27FC236}">
                <a16:creationId xmlns:a16="http://schemas.microsoft.com/office/drawing/2014/main" id="{B290B264-4843-8981-D9B0-F2577E2AAE5E}"/>
              </a:ext>
            </a:extLst>
          </p:cNvPr>
          <p:cNvSpPr txBox="1"/>
          <p:nvPr/>
        </p:nvSpPr>
        <p:spPr>
          <a:xfrm>
            <a:off x="7804091" y="1160360"/>
            <a:ext cx="1100295" cy="646331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Position, Velocity, Timing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2FEF11E-3742-3364-787C-9C7B49D2E90D}"/>
              </a:ext>
            </a:extLst>
          </p:cNvPr>
          <p:cNvSpPr/>
          <p:nvPr/>
        </p:nvSpPr>
        <p:spPr>
          <a:xfrm>
            <a:off x="4701527" y="715617"/>
            <a:ext cx="4442473" cy="1967948"/>
          </a:xfrm>
          <a:prstGeom prst="ellipse">
            <a:avLst/>
          </a:prstGeom>
          <a:noFill/>
          <a:ln w="76200" cap="flat" cmpd="sng" algn="ctr">
            <a:solidFill>
              <a:srgbClr val="F79646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: Folded Corner 40">
            <a:extLst>
              <a:ext uri="{FF2B5EF4-FFF2-40B4-BE49-F238E27FC236}">
                <a16:creationId xmlns:a16="http://schemas.microsoft.com/office/drawing/2014/main" id="{5DB74295-F858-B2FC-42D3-6E3822752805}"/>
              </a:ext>
            </a:extLst>
          </p:cNvPr>
          <p:cNvSpPr/>
          <p:nvPr/>
        </p:nvSpPr>
        <p:spPr>
          <a:xfrm>
            <a:off x="5297997" y="2613314"/>
            <a:ext cx="714129" cy="831273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/>
              <a:t>RINEX file</a:t>
            </a:r>
          </a:p>
        </p:txBody>
      </p:sp>
      <p:sp>
        <p:nvSpPr>
          <p:cNvPr id="42" name="Rectangle: Folded Corner 41">
            <a:extLst>
              <a:ext uri="{FF2B5EF4-FFF2-40B4-BE49-F238E27FC236}">
                <a16:creationId xmlns:a16="http://schemas.microsoft.com/office/drawing/2014/main" id="{AC4B3284-F6DC-FBA3-B578-D6F37EB349DF}"/>
              </a:ext>
            </a:extLst>
          </p:cNvPr>
          <p:cNvSpPr/>
          <p:nvPr/>
        </p:nvSpPr>
        <p:spPr>
          <a:xfrm>
            <a:off x="4762815" y="3731787"/>
            <a:ext cx="714129" cy="831273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/>
              <a:t>RINEX OBS   file</a:t>
            </a:r>
          </a:p>
        </p:txBody>
      </p:sp>
      <p:sp>
        <p:nvSpPr>
          <p:cNvPr id="43" name="Rectangle: Folded Corner 42">
            <a:extLst>
              <a:ext uri="{FF2B5EF4-FFF2-40B4-BE49-F238E27FC236}">
                <a16:creationId xmlns:a16="http://schemas.microsoft.com/office/drawing/2014/main" id="{6237BCB7-5552-D614-FDC9-F43A6BF08052}"/>
              </a:ext>
            </a:extLst>
          </p:cNvPr>
          <p:cNvSpPr/>
          <p:nvPr/>
        </p:nvSpPr>
        <p:spPr>
          <a:xfrm>
            <a:off x="5940152" y="3731787"/>
            <a:ext cx="714129" cy="831273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/>
              <a:t>RINEX</a:t>
            </a:r>
          </a:p>
          <a:p>
            <a:pPr algn="ctr"/>
            <a:r>
              <a:rPr lang="en-US" sz="1400" dirty="0"/>
              <a:t>NAV   file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37C197-F0DB-CE5B-2C3E-6F64A766B52E}"/>
              </a:ext>
            </a:extLst>
          </p:cNvPr>
          <p:cNvSpPr txBox="1"/>
          <p:nvPr/>
        </p:nvSpPr>
        <p:spPr>
          <a:xfrm>
            <a:off x="3132109" y="3688640"/>
            <a:ext cx="13676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GNSS raw data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code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carrier phase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Doppler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C/N0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….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F21FBA-78E2-5069-7337-4764663A764A}"/>
              </a:ext>
            </a:extLst>
          </p:cNvPr>
          <p:cNvSpPr txBox="1"/>
          <p:nvPr/>
        </p:nvSpPr>
        <p:spPr>
          <a:xfrm>
            <a:off x="6906343" y="3688240"/>
            <a:ext cx="20521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GNSS Navigation message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Kepler parameters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satellite clock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satellite hardware bias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ionospheric correction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…</a:t>
            </a: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7FFCB562-F62B-E091-AC7C-A0C139F4CDE5}"/>
              </a:ext>
            </a:extLst>
          </p:cNvPr>
          <p:cNvSpPr/>
          <p:nvPr/>
        </p:nvSpPr>
        <p:spPr>
          <a:xfrm>
            <a:off x="4330565" y="3723878"/>
            <a:ext cx="169427" cy="1115758"/>
          </a:xfrm>
          <a:prstGeom prst="rightBrac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Brace 46">
            <a:extLst>
              <a:ext uri="{FF2B5EF4-FFF2-40B4-BE49-F238E27FC236}">
                <a16:creationId xmlns:a16="http://schemas.microsoft.com/office/drawing/2014/main" id="{8401877A-13A6-21A8-42BB-EBA8887E96E4}"/>
              </a:ext>
            </a:extLst>
          </p:cNvPr>
          <p:cNvSpPr/>
          <p:nvPr/>
        </p:nvSpPr>
        <p:spPr>
          <a:xfrm flipH="1">
            <a:off x="6801708" y="3738552"/>
            <a:ext cx="169427" cy="1115758"/>
          </a:xfrm>
          <a:prstGeom prst="rightBrac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CAB94506-9FC0-31A6-929D-BDA03C9C17E7}"/>
              </a:ext>
            </a:extLst>
          </p:cNvPr>
          <p:cNvSpPr/>
          <p:nvPr/>
        </p:nvSpPr>
        <p:spPr>
          <a:xfrm rot="3080329">
            <a:off x="5778957" y="3435846"/>
            <a:ext cx="377219" cy="331011"/>
          </a:xfrm>
          <a:prstGeom prst="rightArrow">
            <a:avLst/>
          </a:prstGeom>
          <a:solidFill>
            <a:srgbClr val="4F81BD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72BF34E1-CE73-1A0B-FBEB-49C9151C074D}"/>
              </a:ext>
            </a:extLst>
          </p:cNvPr>
          <p:cNvSpPr/>
          <p:nvPr/>
        </p:nvSpPr>
        <p:spPr>
          <a:xfrm rot="18519671" flipH="1">
            <a:off x="5206518" y="3451718"/>
            <a:ext cx="377219" cy="331011"/>
          </a:xfrm>
          <a:prstGeom prst="rightArrow">
            <a:avLst/>
          </a:prstGeom>
          <a:solidFill>
            <a:srgbClr val="4F81BD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Bent 49">
            <a:extLst>
              <a:ext uri="{FF2B5EF4-FFF2-40B4-BE49-F238E27FC236}">
                <a16:creationId xmlns:a16="http://schemas.microsoft.com/office/drawing/2014/main" id="{B4F49E8C-4FFB-4501-4071-6D53C1770512}"/>
              </a:ext>
            </a:extLst>
          </p:cNvPr>
          <p:cNvSpPr/>
          <p:nvPr/>
        </p:nvSpPr>
        <p:spPr>
          <a:xfrm rot="10800000" flipH="1">
            <a:off x="4330565" y="2355725"/>
            <a:ext cx="967432" cy="711434"/>
          </a:xfrm>
          <a:prstGeom prst="bentArrow">
            <a:avLst/>
          </a:prstGeom>
          <a:solidFill>
            <a:srgbClr val="4F81BD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88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F5C243-6AD1-6096-1A8C-4BE692FBF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E59219-D531-80C9-7629-8A00C1471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Positioning Algorithm</a:t>
            </a:r>
          </a:p>
        </p:txBody>
      </p:sp>
      <p:sp>
        <p:nvSpPr>
          <p:cNvPr id="21" name="Rectangle : coins arrondis 11">
            <a:extLst>
              <a:ext uri="{FF2B5EF4-FFF2-40B4-BE49-F238E27FC236}">
                <a16:creationId xmlns:a16="http://schemas.microsoft.com/office/drawing/2014/main" id="{9BB867B3-9430-5500-6082-0E75FCB50084}"/>
              </a:ext>
            </a:extLst>
          </p:cNvPr>
          <p:cNvSpPr/>
          <p:nvPr/>
        </p:nvSpPr>
        <p:spPr>
          <a:xfrm>
            <a:off x="2017530" y="1454804"/>
            <a:ext cx="4930734" cy="687003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Navigation Algorithm</a:t>
            </a:r>
          </a:p>
        </p:txBody>
      </p:sp>
      <p:cxnSp>
        <p:nvCxnSpPr>
          <p:cNvPr id="24" name="Connecteur : en angle 19">
            <a:extLst>
              <a:ext uri="{FF2B5EF4-FFF2-40B4-BE49-F238E27FC236}">
                <a16:creationId xmlns:a16="http://schemas.microsoft.com/office/drawing/2014/main" id="{44DB4AF6-DD0F-4B43-1C4A-FC1F4A5ADCF7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458114" y="1798306"/>
            <a:ext cx="1559416" cy="1812"/>
          </a:xfrm>
          <a:prstGeom prst="bentConnector3">
            <a:avLst>
              <a:gd name="adj1" fmla="val 50000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cxnSp>
        <p:nvCxnSpPr>
          <p:cNvPr id="25" name="Connecteur : en angle 22">
            <a:extLst>
              <a:ext uri="{FF2B5EF4-FFF2-40B4-BE49-F238E27FC236}">
                <a16:creationId xmlns:a16="http://schemas.microsoft.com/office/drawing/2014/main" id="{A6DA865D-382E-7552-6C04-CDD9233EE824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6948264" y="1792861"/>
            <a:ext cx="1906365" cy="5445"/>
          </a:xfrm>
          <a:prstGeom prst="bentConnector3">
            <a:avLst>
              <a:gd name="adj1" fmla="val 50000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sp>
        <p:nvSpPr>
          <p:cNvPr id="27" name="ZoneTexte 27">
            <a:extLst>
              <a:ext uri="{FF2B5EF4-FFF2-40B4-BE49-F238E27FC236}">
                <a16:creationId xmlns:a16="http://schemas.microsoft.com/office/drawing/2014/main" id="{C406557C-CAF8-428A-3AA1-7B1DDDDDAC88}"/>
              </a:ext>
            </a:extLst>
          </p:cNvPr>
          <p:cNvSpPr txBox="1"/>
          <p:nvPr/>
        </p:nvSpPr>
        <p:spPr>
          <a:xfrm>
            <a:off x="179512" y="1335989"/>
            <a:ext cx="1588368" cy="830997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Code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Carrier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Doppler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Navigation data bits</a:t>
            </a:r>
          </a:p>
        </p:txBody>
      </p:sp>
      <p:sp>
        <p:nvSpPr>
          <p:cNvPr id="28" name="ZoneTexte 28">
            <a:extLst>
              <a:ext uri="{FF2B5EF4-FFF2-40B4-BE49-F238E27FC236}">
                <a16:creationId xmlns:a16="http://schemas.microsoft.com/office/drawing/2014/main" id="{B290B264-4843-8981-D9B0-F2577E2AAE5E}"/>
              </a:ext>
            </a:extLst>
          </p:cNvPr>
          <p:cNvSpPr txBox="1"/>
          <p:nvPr/>
        </p:nvSpPr>
        <p:spPr>
          <a:xfrm>
            <a:off x="7523565" y="1476046"/>
            <a:ext cx="1100295" cy="646331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Position, Velocity, Timing</a:t>
            </a:r>
          </a:p>
        </p:txBody>
      </p:sp>
      <p:sp>
        <p:nvSpPr>
          <p:cNvPr id="13" name="Rectangle : coins arrondis 3">
            <a:extLst>
              <a:ext uri="{FF2B5EF4-FFF2-40B4-BE49-F238E27FC236}">
                <a16:creationId xmlns:a16="http://schemas.microsoft.com/office/drawing/2014/main" id="{91984192-47F0-D770-DC1A-61F8B9C07AE0}"/>
              </a:ext>
            </a:extLst>
          </p:cNvPr>
          <p:cNvSpPr/>
          <p:nvPr/>
        </p:nvSpPr>
        <p:spPr>
          <a:xfrm>
            <a:off x="1451079" y="2906562"/>
            <a:ext cx="2040801" cy="1055750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rIns="0" rtlCol="0" anchor="t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Satellite position and clock</a:t>
            </a:r>
          </a:p>
          <a:p>
            <a:pPr marL="171450" marR="0" lvl="0" indent="-17145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kern="0" dirty="0">
                <a:solidFill>
                  <a:prstClr val="white"/>
                </a:solidFill>
                <a:latin typeface="Calibri"/>
              </a:rPr>
              <a:t>time of emission</a:t>
            </a:r>
          </a:p>
          <a:p>
            <a:pPr marL="171450" marR="0" lvl="0" indent="-17145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relativistic effect</a:t>
            </a:r>
          </a:p>
          <a:p>
            <a:pPr marL="171450" marR="0" lvl="0" indent="-17145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kern="0" dirty="0" err="1">
                <a:solidFill>
                  <a:prstClr val="white"/>
                </a:solidFill>
                <a:latin typeface="Calibri"/>
              </a:rPr>
              <a:t>sagnac</a:t>
            </a:r>
            <a:r>
              <a:rPr lang="en-US" sz="1100" kern="0" dirty="0">
                <a:solidFill>
                  <a:prstClr val="white"/>
                </a:solidFill>
                <a:latin typeface="Calibri"/>
              </a:rPr>
              <a:t> effect (Earth rotation)</a:t>
            </a:r>
            <a:endParaRPr kumimoji="0" lang="en-US" sz="11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 : coins arrondis 4">
            <a:extLst>
              <a:ext uri="{FF2B5EF4-FFF2-40B4-BE49-F238E27FC236}">
                <a16:creationId xmlns:a16="http://schemas.microsoft.com/office/drawing/2014/main" id="{BE9F8905-0F99-8DAA-4E4C-B461795965E3}"/>
              </a:ext>
            </a:extLst>
          </p:cNvPr>
          <p:cNvSpPr/>
          <p:nvPr/>
        </p:nvSpPr>
        <p:spPr>
          <a:xfrm>
            <a:off x="3673825" y="2906562"/>
            <a:ext cx="2040801" cy="1055750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rIns="0" rtlCol="0" anchor="t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Observation corrections</a:t>
            </a:r>
          </a:p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satellite hardware bias</a:t>
            </a:r>
          </a:p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iono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kern="0" dirty="0">
                <a:solidFill>
                  <a:prstClr val="white"/>
                </a:solidFill>
                <a:latin typeface="Calibri"/>
              </a:rPr>
              <a:t>t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ropo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 : coins arrondis 5">
            <a:extLst>
              <a:ext uri="{FF2B5EF4-FFF2-40B4-BE49-F238E27FC236}">
                <a16:creationId xmlns:a16="http://schemas.microsoft.com/office/drawing/2014/main" id="{DA84CD8A-DED3-6EAA-8EC4-DBCF9CF1EC15}"/>
              </a:ext>
            </a:extLst>
          </p:cNvPr>
          <p:cNvSpPr/>
          <p:nvPr/>
        </p:nvSpPr>
        <p:spPr>
          <a:xfrm>
            <a:off x="5889915" y="2906562"/>
            <a:ext cx="2040801" cy="1055750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rIns="0" rtlCol="0" anchor="t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Weighted Least Squares estimation</a:t>
            </a:r>
          </a:p>
          <a:p>
            <a:pPr marL="171450" marR="0" lvl="0" indent="-17145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kern="0" dirty="0">
                <a:solidFill>
                  <a:prstClr val="white"/>
                </a:solidFill>
                <a:latin typeface="Calibri"/>
              </a:rPr>
              <a:t>Jacobian computation</a:t>
            </a:r>
          </a:p>
          <a:p>
            <a:pPr marL="171450" marR="0" lvl="0" indent="-17145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Observation prediction</a:t>
            </a:r>
          </a:p>
        </p:txBody>
      </p:sp>
      <p:sp>
        <p:nvSpPr>
          <p:cNvPr id="16" name="Flèche : droite 6">
            <a:extLst>
              <a:ext uri="{FF2B5EF4-FFF2-40B4-BE49-F238E27FC236}">
                <a16:creationId xmlns:a16="http://schemas.microsoft.com/office/drawing/2014/main" id="{37BAB116-F109-D6E0-ADB0-B348FE59076E}"/>
              </a:ext>
            </a:extLst>
          </p:cNvPr>
          <p:cNvSpPr/>
          <p:nvPr/>
        </p:nvSpPr>
        <p:spPr>
          <a:xfrm>
            <a:off x="3441282" y="3262134"/>
            <a:ext cx="266622" cy="344606"/>
          </a:xfrm>
          <a:prstGeom prst="rightArrow">
            <a:avLst/>
          </a:prstGeom>
          <a:solidFill>
            <a:srgbClr val="F79646"/>
          </a:solidFill>
          <a:ln w="25400" cap="flat" cmpd="sng" algn="ctr">
            <a:solidFill>
              <a:srgbClr val="F7964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lèche : droite 7">
            <a:extLst>
              <a:ext uri="{FF2B5EF4-FFF2-40B4-BE49-F238E27FC236}">
                <a16:creationId xmlns:a16="http://schemas.microsoft.com/office/drawing/2014/main" id="{18F9F1A9-836C-5D05-99B2-F7E208B71B0C}"/>
              </a:ext>
            </a:extLst>
          </p:cNvPr>
          <p:cNvSpPr/>
          <p:nvPr/>
        </p:nvSpPr>
        <p:spPr>
          <a:xfrm>
            <a:off x="5673530" y="3262134"/>
            <a:ext cx="266622" cy="344606"/>
          </a:xfrm>
          <a:prstGeom prst="rightArrow">
            <a:avLst/>
          </a:prstGeom>
          <a:solidFill>
            <a:srgbClr val="F79646"/>
          </a:solidFill>
          <a:ln w="25400" cap="flat" cmpd="sng" algn="ctr">
            <a:solidFill>
              <a:srgbClr val="F7964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: Folded Corner 29">
            <a:extLst>
              <a:ext uri="{FF2B5EF4-FFF2-40B4-BE49-F238E27FC236}">
                <a16:creationId xmlns:a16="http://schemas.microsoft.com/office/drawing/2014/main" id="{778C4E3F-A7FD-550D-7197-DCBFAABB8EBD}"/>
              </a:ext>
            </a:extLst>
          </p:cNvPr>
          <p:cNvSpPr/>
          <p:nvPr/>
        </p:nvSpPr>
        <p:spPr>
          <a:xfrm>
            <a:off x="379060" y="2516182"/>
            <a:ext cx="714129" cy="831273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/>
              <a:t>RINEX OBS   file</a:t>
            </a:r>
          </a:p>
        </p:txBody>
      </p:sp>
      <p:sp>
        <p:nvSpPr>
          <p:cNvPr id="31" name="Rectangle: Folded Corner 30">
            <a:extLst>
              <a:ext uri="{FF2B5EF4-FFF2-40B4-BE49-F238E27FC236}">
                <a16:creationId xmlns:a16="http://schemas.microsoft.com/office/drawing/2014/main" id="{2AB29D54-7D0E-3A96-B4C0-1559B18BB8AA}"/>
              </a:ext>
            </a:extLst>
          </p:cNvPr>
          <p:cNvSpPr/>
          <p:nvPr/>
        </p:nvSpPr>
        <p:spPr>
          <a:xfrm>
            <a:off x="379060" y="3546675"/>
            <a:ext cx="714129" cy="831273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/>
              <a:t>RINEX</a:t>
            </a:r>
          </a:p>
          <a:p>
            <a:pPr algn="ctr"/>
            <a:r>
              <a:rPr lang="en-US" sz="1400" dirty="0"/>
              <a:t>NAV   file</a:t>
            </a:r>
          </a:p>
        </p:txBody>
      </p:sp>
      <p:sp>
        <p:nvSpPr>
          <p:cNvPr id="32" name="Flèche : droite 6">
            <a:extLst>
              <a:ext uri="{FF2B5EF4-FFF2-40B4-BE49-F238E27FC236}">
                <a16:creationId xmlns:a16="http://schemas.microsoft.com/office/drawing/2014/main" id="{E24389BA-9598-4D5C-E221-0BB7CE50D06A}"/>
              </a:ext>
            </a:extLst>
          </p:cNvPr>
          <p:cNvSpPr/>
          <p:nvPr/>
        </p:nvSpPr>
        <p:spPr>
          <a:xfrm>
            <a:off x="1159426" y="3249099"/>
            <a:ext cx="266622" cy="344606"/>
          </a:xfrm>
          <a:prstGeom prst="rightArrow">
            <a:avLst/>
          </a:prstGeom>
          <a:solidFill>
            <a:srgbClr val="F79646"/>
          </a:solidFill>
          <a:ln w="25400" cap="flat" cmpd="sng" algn="ctr">
            <a:solidFill>
              <a:srgbClr val="F7964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0232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73C36C-8BCD-162F-8CDB-CA088E4DB5F1}"/>
              </a:ext>
            </a:extLst>
          </p:cNvPr>
          <p:cNvSpPr/>
          <p:nvPr/>
        </p:nvSpPr>
        <p:spPr>
          <a:xfrm>
            <a:off x="1392450" y="2432197"/>
            <a:ext cx="4374779" cy="187870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PRX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F5C243-6AD1-6096-1A8C-4BE692FBF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E59219-D531-80C9-7629-8A00C1471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Positioning Algorithm</a:t>
            </a:r>
          </a:p>
        </p:txBody>
      </p:sp>
      <p:sp>
        <p:nvSpPr>
          <p:cNvPr id="13" name="Rectangle : coins arrondis 3">
            <a:extLst>
              <a:ext uri="{FF2B5EF4-FFF2-40B4-BE49-F238E27FC236}">
                <a16:creationId xmlns:a16="http://schemas.microsoft.com/office/drawing/2014/main" id="{91984192-47F0-D770-DC1A-61F8B9C07AE0}"/>
              </a:ext>
            </a:extLst>
          </p:cNvPr>
          <p:cNvSpPr/>
          <p:nvPr/>
        </p:nvSpPr>
        <p:spPr>
          <a:xfrm>
            <a:off x="1451079" y="2906562"/>
            <a:ext cx="2040801" cy="1055750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rIns="0" rtlCol="0" anchor="t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Satellite position and clock</a:t>
            </a:r>
          </a:p>
          <a:p>
            <a:pPr marL="171450" marR="0" lvl="0" indent="-17145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kern="0" dirty="0">
                <a:solidFill>
                  <a:prstClr val="white"/>
                </a:solidFill>
                <a:latin typeface="Calibri"/>
              </a:rPr>
              <a:t>time of emission</a:t>
            </a:r>
          </a:p>
          <a:p>
            <a:pPr marL="171450" marR="0" lvl="0" indent="-17145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relativistic effect</a:t>
            </a:r>
          </a:p>
          <a:p>
            <a:pPr marL="171450" marR="0" lvl="0" indent="-17145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kern="0" dirty="0" err="1">
                <a:solidFill>
                  <a:prstClr val="white"/>
                </a:solidFill>
                <a:latin typeface="Calibri"/>
              </a:rPr>
              <a:t>sagnac</a:t>
            </a:r>
            <a:r>
              <a:rPr lang="en-US" sz="1100" kern="0" dirty="0">
                <a:solidFill>
                  <a:prstClr val="white"/>
                </a:solidFill>
                <a:latin typeface="Calibri"/>
              </a:rPr>
              <a:t> effect (Earth rotation)</a:t>
            </a:r>
            <a:endParaRPr kumimoji="0" lang="en-US" sz="11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 : coins arrondis 4">
            <a:extLst>
              <a:ext uri="{FF2B5EF4-FFF2-40B4-BE49-F238E27FC236}">
                <a16:creationId xmlns:a16="http://schemas.microsoft.com/office/drawing/2014/main" id="{BE9F8905-0F99-8DAA-4E4C-B461795965E3}"/>
              </a:ext>
            </a:extLst>
          </p:cNvPr>
          <p:cNvSpPr/>
          <p:nvPr/>
        </p:nvSpPr>
        <p:spPr>
          <a:xfrm>
            <a:off x="3673825" y="2906562"/>
            <a:ext cx="2040801" cy="1055750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rIns="0" rtlCol="0" anchor="t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Observation corrections</a:t>
            </a:r>
          </a:p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satellite hardware bias</a:t>
            </a:r>
          </a:p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iono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kern="0" dirty="0">
                <a:solidFill>
                  <a:prstClr val="white"/>
                </a:solidFill>
                <a:latin typeface="Calibri"/>
              </a:rPr>
              <a:t>t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ropo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 : coins arrondis 5">
            <a:extLst>
              <a:ext uri="{FF2B5EF4-FFF2-40B4-BE49-F238E27FC236}">
                <a16:creationId xmlns:a16="http://schemas.microsoft.com/office/drawing/2014/main" id="{DA84CD8A-DED3-6EAA-8EC4-DBCF9CF1EC15}"/>
              </a:ext>
            </a:extLst>
          </p:cNvPr>
          <p:cNvSpPr/>
          <p:nvPr/>
        </p:nvSpPr>
        <p:spPr>
          <a:xfrm>
            <a:off x="6779671" y="2906562"/>
            <a:ext cx="2040801" cy="1055750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rIns="0" rtlCol="0" anchor="t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Weighted Least Squares estimation</a:t>
            </a:r>
          </a:p>
          <a:p>
            <a:pPr marL="171450" marR="0" lvl="0" indent="-17145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kern="0" dirty="0">
                <a:solidFill>
                  <a:prstClr val="white"/>
                </a:solidFill>
                <a:latin typeface="Calibri"/>
              </a:rPr>
              <a:t>Jacobian computation</a:t>
            </a:r>
          </a:p>
          <a:p>
            <a:pPr marL="171450" marR="0" lvl="0" indent="-17145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Observation prediction</a:t>
            </a:r>
          </a:p>
        </p:txBody>
      </p:sp>
      <p:sp>
        <p:nvSpPr>
          <p:cNvPr id="16" name="Flèche : droite 6">
            <a:extLst>
              <a:ext uri="{FF2B5EF4-FFF2-40B4-BE49-F238E27FC236}">
                <a16:creationId xmlns:a16="http://schemas.microsoft.com/office/drawing/2014/main" id="{37BAB116-F109-D6E0-ADB0-B348FE59076E}"/>
              </a:ext>
            </a:extLst>
          </p:cNvPr>
          <p:cNvSpPr/>
          <p:nvPr/>
        </p:nvSpPr>
        <p:spPr>
          <a:xfrm>
            <a:off x="3441282" y="3262134"/>
            <a:ext cx="266622" cy="344606"/>
          </a:xfrm>
          <a:prstGeom prst="rightArrow">
            <a:avLst/>
          </a:prstGeom>
          <a:solidFill>
            <a:srgbClr val="F79646"/>
          </a:solidFill>
          <a:ln w="25400" cap="flat" cmpd="sng" algn="ctr">
            <a:solidFill>
              <a:srgbClr val="F7964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: Folded Corner 29">
            <a:extLst>
              <a:ext uri="{FF2B5EF4-FFF2-40B4-BE49-F238E27FC236}">
                <a16:creationId xmlns:a16="http://schemas.microsoft.com/office/drawing/2014/main" id="{778C4E3F-A7FD-550D-7197-DCBFAABB8EBD}"/>
              </a:ext>
            </a:extLst>
          </p:cNvPr>
          <p:cNvSpPr/>
          <p:nvPr/>
        </p:nvSpPr>
        <p:spPr>
          <a:xfrm>
            <a:off x="379060" y="2516182"/>
            <a:ext cx="714129" cy="831273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/>
              <a:t>RINEX OBS   file</a:t>
            </a:r>
          </a:p>
        </p:txBody>
      </p:sp>
      <p:sp>
        <p:nvSpPr>
          <p:cNvPr id="31" name="Rectangle: Folded Corner 30">
            <a:extLst>
              <a:ext uri="{FF2B5EF4-FFF2-40B4-BE49-F238E27FC236}">
                <a16:creationId xmlns:a16="http://schemas.microsoft.com/office/drawing/2014/main" id="{2AB29D54-7D0E-3A96-B4C0-1559B18BB8AA}"/>
              </a:ext>
            </a:extLst>
          </p:cNvPr>
          <p:cNvSpPr/>
          <p:nvPr/>
        </p:nvSpPr>
        <p:spPr>
          <a:xfrm>
            <a:off x="379060" y="3546675"/>
            <a:ext cx="714129" cy="831273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/>
              <a:t>RINEX</a:t>
            </a:r>
          </a:p>
          <a:p>
            <a:pPr algn="ctr"/>
            <a:r>
              <a:rPr lang="en-US" sz="1400" dirty="0"/>
              <a:t>NAV   file</a:t>
            </a:r>
          </a:p>
        </p:txBody>
      </p:sp>
      <p:sp>
        <p:nvSpPr>
          <p:cNvPr id="32" name="Flèche : droite 6">
            <a:extLst>
              <a:ext uri="{FF2B5EF4-FFF2-40B4-BE49-F238E27FC236}">
                <a16:creationId xmlns:a16="http://schemas.microsoft.com/office/drawing/2014/main" id="{E24389BA-9598-4D5C-E221-0BB7CE50D06A}"/>
              </a:ext>
            </a:extLst>
          </p:cNvPr>
          <p:cNvSpPr/>
          <p:nvPr/>
        </p:nvSpPr>
        <p:spPr>
          <a:xfrm>
            <a:off x="1159426" y="3249099"/>
            <a:ext cx="266622" cy="344606"/>
          </a:xfrm>
          <a:prstGeom prst="rightArrow">
            <a:avLst/>
          </a:prstGeom>
          <a:solidFill>
            <a:srgbClr val="F79646"/>
          </a:solidFill>
          <a:ln w="25400" cap="flat" cmpd="sng" algn="ctr">
            <a:solidFill>
              <a:srgbClr val="F7964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3F8B7227-870D-DED8-F624-A2D077B3DD07}"/>
              </a:ext>
            </a:extLst>
          </p:cNvPr>
          <p:cNvSpPr/>
          <p:nvPr/>
        </p:nvSpPr>
        <p:spPr>
          <a:xfrm>
            <a:off x="5896571" y="3018800"/>
            <a:ext cx="714129" cy="831273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/>
              <a:t>PRX CSV   file</a:t>
            </a:r>
          </a:p>
        </p:txBody>
      </p:sp>
      <p:sp>
        <p:nvSpPr>
          <p:cNvPr id="17" name="Flèche : droite 7">
            <a:extLst>
              <a:ext uri="{FF2B5EF4-FFF2-40B4-BE49-F238E27FC236}">
                <a16:creationId xmlns:a16="http://schemas.microsoft.com/office/drawing/2014/main" id="{18F9F1A9-836C-5D05-99B2-F7E208B71B0C}"/>
              </a:ext>
            </a:extLst>
          </p:cNvPr>
          <p:cNvSpPr/>
          <p:nvPr/>
        </p:nvSpPr>
        <p:spPr>
          <a:xfrm>
            <a:off x="5673530" y="3262134"/>
            <a:ext cx="266622" cy="344606"/>
          </a:xfrm>
          <a:prstGeom prst="rightArrow">
            <a:avLst/>
          </a:prstGeom>
          <a:solidFill>
            <a:srgbClr val="F79646"/>
          </a:solidFill>
          <a:ln w="25400" cap="flat" cmpd="sng" algn="ctr">
            <a:solidFill>
              <a:srgbClr val="F7964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lèche : droite 7">
            <a:extLst>
              <a:ext uri="{FF2B5EF4-FFF2-40B4-BE49-F238E27FC236}">
                <a16:creationId xmlns:a16="http://schemas.microsoft.com/office/drawing/2014/main" id="{057286FB-A7F0-160E-2AF2-28C516C5170A}"/>
              </a:ext>
            </a:extLst>
          </p:cNvPr>
          <p:cNvSpPr/>
          <p:nvPr/>
        </p:nvSpPr>
        <p:spPr>
          <a:xfrm>
            <a:off x="6536473" y="3262134"/>
            <a:ext cx="266622" cy="344606"/>
          </a:xfrm>
          <a:prstGeom prst="rightArrow">
            <a:avLst/>
          </a:prstGeom>
          <a:solidFill>
            <a:srgbClr val="F79646"/>
          </a:solidFill>
          <a:ln w="25400" cap="flat" cmpd="sng" algn="ctr">
            <a:solidFill>
              <a:srgbClr val="F7964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 : coins arrondis 11">
            <a:extLst>
              <a:ext uri="{FF2B5EF4-FFF2-40B4-BE49-F238E27FC236}">
                <a16:creationId xmlns:a16="http://schemas.microsoft.com/office/drawing/2014/main" id="{2ECEB284-A74F-0569-4756-D9F24D1F230A}"/>
              </a:ext>
            </a:extLst>
          </p:cNvPr>
          <p:cNvSpPr/>
          <p:nvPr/>
        </p:nvSpPr>
        <p:spPr>
          <a:xfrm>
            <a:off x="2017530" y="1454804"/>
            <a:ext cx="4930734" cy="687003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Navigation Algorithm</a:t>
            </a:r>
          </a:p>
        </p:txBody>
      </p:sp>
      <p:cxnSp>
        <p:nvCxnSpPr>
          <p:cNvPr id="9" name="Connecteur : en angle 19">
            <a:extLst>
              <a:ext uri="{FF2B5EF4-FFF2-40B4-BE49-F238E27FC236}">
                <a16:creationId xmlns:a16="http://schemas.microsoft.com/office/drawing/2014/main" id="{8BEA6953-915D-1D9D-5317-D2297DFF6E7B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58114" y="1798306"/>
            <a:ext cx="1559416" cy="1812"/>
          </a:xfrm>
          <a:prstGeom prst="bentConnector3">
            <a:avLst>
              <a:gd name="adj1" fmla="val 50000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cxnSp>
        <p:nvCxnSpPr>
          <p:cNvPr id="10" name="Connecteur : en angle 22">
            <a:extLst>
              <a:ext uri="{FF2B5EF4-FFF2-40B4-BE49-F238E27FC236}">
                <a16:creationId xmlns:a16="http://schemas.microsoft.com/office/drawing/2014/main" id="{CFA3B9D9-DAA7-A94D-23B6-60CD5B6EC16C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6948264" y="1792861"/>
            <a:ext cx="1906365" cy="5445"/>
          </a:xfrm>
          <a:prstGeom prst="bentConnector3">
            <a:avLst>
              <a:gd name="adj1" fmla="val 50000"/>
            </a:avLst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  <a:tailEnd type="triangle"/>
          </a:ln>
          <a:effectLst/>
        </p:spPr>
      </p:cxnSp>
      <p:sp>
        <p:nvSpPr>
          <p:cNvPr id="11" name="ZoneTexte 27">
            <a:extLst>
              <a:ext uri="{FF2B5EF4-FFF2-40B4-BE49-F238E27FC236}">
                <a16:creationId xmlns:a16="http://schemas.microsoft.com/office/drawing/2014/main" id="{A5C11FAB-D853-E327-9988-3826CDA2E278}"/>
              </a:ext>
            </a:extLst>
          </p:cNvPr>
          <p:cNvSpPr txBox="1"/>
          <p:nvPr/>
        </p:nvSpPr>
        <p:spPr>
          <a:xfrm>
            <a:off x="179512" y="1335989"/>
            <a:ext cx="1588368" cy="830997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Code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Carrier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Doppler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Navigation data bits</a:t>
            </a:r>
          </a:p>
        </p:txBody>
      </p:sp>
      <p:sp>
        <p:nvSpPr>
          <p:cNvPr id="12" name="ZoneTexte 28">
            <a:extLst>
              <a:ext uri="{FF2B5EF4-FFF2-40B4-BE49-F238E27FC236}">
                <a16:creationId xmlns:a16="http://schemas.microsoft.com/office/drawing/2014/main" id="{BD24D12C-B3F5-4AF4-DD1C-884111B839C7}"/>
              </a:ext>
            </a:extLst>
          </p:cNvPr>
          <p:cNvSpPr txBox="1"/>
          <p:nvPr/>
        </p:nvSpPr>
        <p:spPr>
          <a:xfrm>
            <a:off x="7523565" y="1476046"/>
            <a:ext cx="1100295" cy="646331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Position, Velocity, Timing</a:t>
            </a:r>
          </a:p>
        </p:txBody>
      </p:sp>
    </p:spTree>
    <p:extLst>
      <p:ext uri="{BB962C8B-B14F-4D97-AF65-F5344CB8AC3E}">
        <p14:creationId xmlns:p14="http://schemas.microsoft.com/office/powerpoint/2010/main" val="4204155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28DCC-6535-9736-C213-8428644D31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512" y="735324"/>
            <a:ext cx="6840760" cy="4133538"/>
          </a:xfrm>
        </p:spPr>
        <p:txBody>
          <a:bodyPr>
            <a:normAutofit/>
          </a:bodyPr>
          <a:lstStyle/>
          <a:p>
            <a:r>
              <a:rPr lang="en-US" dirty="0"/>
              <a:t>Focus on the use of </a:t>
            </a:r>
            <a:r>
              <a:rPr lang="en-US" b="1" dirty="0">
                <a:latin typeface="Consolas" panose="020B0609020204030204" pitchFamily="49" charset="0"/>
              </a:rPr>
              <a:t>pandas</a:t>
            </a:r>
            <a:r>
              <a:rPr lang="en-US" dirty="0"/>
              <a:t>, a “Flexible and powerful data analysis / manipulation library for Python”</a:t>
            </a:r>
          </a:p>
          <a:p>
            <a:pPr lvl="1"/>
            <a:r>
              <a:rPr lang="en-US" dirty="0"/>
              <a:t>Widely used in research and industry</a:t>
            </a:r>
          </a:p>
          <a:p>
            <a:pPr lvl="1"/>
            <a:r>
              <a:rPr lang="en-US" dirty="0"/>
              <a:t>Open source, 43.8K </a:t>
            </a:r>
            <a:r>
              <a:rPr lang="en-US" dirty="0" err="1"/>
              <a:t>github</a:t>
            </a:r>
            <a:r>
              <a:rPr lang="en-US" dirty="0"/>
              <a:t> stars (as of Nov 2024)</a:t>
            </a:r>
          </a:p>
          <a:p>
            <a:endParaRPr lang="en-US" dirty="0"/>
          </a:p>
          <a:p>
            <a:r>
              <a:rPr lang="en-US" dirty="0"/>
              <a:t>Process real data from the </a:t>
            </a:r>
            <a:r>
              <a:rPr lang="en-US" b="1" dirty="0"/>
              <a:t>IGS</a:t>
            </a:r>
            <a:r>
              <a:rPr lang="en-US" dirty="0"/>
              <a:t> (International GNSS Service) data</a:t>
            </a:r>
          </a:p>
          <a:p>
            <a:pPr lvl="1"/>
            <a:r>
              <a:rPr lang="en-US" dirty="0"/>
              <a:t>TLSE station, hosted in CNES</a:t>
            </a:r>
          </a:p>
          <a:p>
            <a:pPr lvl="1"/>
            <a:r>
              <a:rPr lang="en-US" dirty="0"/>
              <a:t>24 hours at 30 s interval on 2024-01-01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F5C243-6AD1-6096-1A8C-4BE692FBF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E59219-D531-80C9-7629-8A00C1471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works outline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1FFA0F-3E9C-097E-812E-EB09CAC99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949" y="829939"/>
            <a:ext cx="1457528" cy="52394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043FC4C-8921-3EFD-DD66-E21C66575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008" y="2287825"/>
            <a:ext cx="1342728" cy="56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68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28DCC-6535-9736-C213-8428644D31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dirty="0">
                <a:latin typeface="Consolas" panose="020B0609020204030204" pitchFamily="49" charset="0"/>
              </a:rPr>
              <a:t>chapter_0_pandas.md</a:t>
            </a:r>
            <a:r>
              <a:rPr lang="en-US" dirty="0"/>
              <a:t>:  discover pandas</a:t>
            </a:r>
          </a:p>
          <a:p>
            <a:pPr lvl="3"/>
            <a:r>
              <a:rPr lang="en-US" dirty="0"/>
              <a:t>select data</a:t>
            </a:r>
          </a:p>
          <a:p>
            <a:pPr lvl="3"/>
            <a:r>
              <a:rPr lang="en-US" dirty="0"/>
              <a:t>apply functions</a:t>
            </a:r>
          </a:p>
          <a:p>
            <a:pPr lvl="3"/>
            <a:r>
              <a:rPr lang="en-US" dirty="0"/>
              <a:t>plot</a:t>
            </a:r>
          </a:p>
          <a:p>
            <a:pPr lvl="2"/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chapter_1_spp.md</a:t>
            </a:r>
            <a:r>
              <a:rPr lang="en-US" dirty="0"/>
              <a:t>:  implement a Single Point Positioning solution</a:t>
            </a:r>
          </a:p>
          <a:p>
            <a:pPr lvl="3"/>
            <a:r>
              <a:rPr lang="en-US" dirty="0"/>
              <a:t>implement observation model</a:t>
            </a:r>
          </a:p>
          <a:p>
            <a:pPr lvl="3"/>
            <a:r>
              <a:rPr lang="en-US" dirty="0"/>
              <a:t>compute </a:t>
            </a:r>
            <a:r>
              <a:rPr lang="en-US" dirty="0" err="1"/>
              <a:t>jacobian</a:t>
            </a:r>
            <a:endParaRPr lang="en-US" dirty="0"/>
          </a:p>
          <a:p>
            <a:pPr lvl="3"/>
            <a:r>
              <a:rPr lang="en-US" dirty="0"/>
              <a:t>compute WLS</a:t>
            </a:r>
          </a:p>
          <a:p>
            <a:pPr lvl="3"/>
            <a:r>
              <a:rPr lang="en-US" dirty="0"/>
              <a:t>analyze</a:t>
            </a:r>
          </a:p>
          <a:p>
            <a:pPr lvl="2"/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chapter_2_dgnss.md</a:t>
            </a:r>
            <a:r>
              <a:rPr lang="en-US" dirty="0"/>
              <a:t>: implement a Differential GNSS solution</a:t>
            </a:r>
          </a:p>
          <a:p>
            <a:pPr lvl="3"/>
            <a:r>
              <a:rPr lang="en-US" dirty="0"/>
              <a:t>apply differential corrections from a nearby base station</a:t>
            </a:r>
          </a:p>
          <a:p>
            <a:pPr lvl="2"/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chapter_3_rtk.md</a:t>
            </a:r>
            <a:r>
              <a:rPr lang="en-US" dirty="0"/>
              <a:t>: implement a Real-Time Kinematics solution</a:t>
            </a:r>
          </a:p>
          <a:p>
            <a:pPr lvl="3"/>
            <a:r>
              <a:rPr lang="en-US" dirty="0"/>
              <a:t>use differentially-corrected code and carrier observations</a:t>
            </a:r>
          </a:p>
          <a:p>
            <a:pPr lvl="3"/>
            <a:r>
              <a:rPr lang="en-US" dirty="0"/>
              <a:t>Apply WLS over a batch of epochs (instead of a per epoch estimation)</a:t>
            </a:r>
          </a:p>
          <a:p>
            <a:pPr lvl="2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F5C243-6AD1-6096-1A8C-4BE692FBF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E59219-D531-80C9-7629-8A00C1471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works outline</a:t>
            </a:r>
          </a:p>
        </p:txBody>
      </p:sp>
    </p:spTree>
    <p:extLst>
      <p:ext uri="{BB962C8B-B14F-4D97-AF65-F5344CB8AC3E}">
        <p14:creationId xmlns:p14="http://schemas.microsoft.com/office/powerpoint/2010/main" val="501073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1CC8A-087C-B9C9-3D88-67FC5CAA7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853946-06CE-044C-AD30-F1D7BB67B3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lvl="1">
              <a:lnSpc>
                <a:spcPct val="120000"/>
              </a:lnSpc>
            </a:pPr>
            <a:r>
              <a:rPr lang="en-US" dirty="0"/>
              <a:t>Folder structure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latin typeface="Consolas" panose="020B0609020204030204" pitchFamily="49" charset="0"/>
              </a:rPr>
              <a:t>data/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latin typeface="Consolas" panose="020B0609020204030204" pitchFamily="49" charset="0"/>
              </a:rPr>
              <a:t>instructions/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 err="1">
                <a:latin typeface="Consolas" panose="020B0609020204030204" pitchFamily="49" charset="0"/>
              </a:rPr>
              <a:t>src</a:t>
            </a:r>
            <a:r>
              <a:rPr lang="en-US" sz="1300" dirty="0">
                <a:latin typeface="Consolas" panose="020B0609020204030204" pitchFamily="49" charset="0"/>
              </a:rPr>
              <a:t>/	</a:t>
            </a:r>
            <a:r>
              <a:rPr lang="en-US" sz="1300" dirty="0">
                <a:solidFill>
                  <a:srgbClr val="FF0000"/>
                </a:solidFill>
                <a:latin typeface="Consolas" panose="020B0609020204030204" pitchFamily="49" charset="0"/>
              </a:rPr>
              <a:t>&lt;= code here!!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latin typeface="Consolas" panose="020B0609020204030204" pitchFamily="49" charset="0"/>
              </a:rPr>
              <a:t>tests/</a:t>
            </a:r>
          </a:p>
          <a:p>
            <a:pPr lvl="2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Detailed instructions will guide you through the coding of the various required functions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After each implementation, unit tests have been written</a:t>
            </a:r>
          </a:p>
          <a:p>
            <a:pPr lvl="2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Use this </a:t>
            </a:r>
            <a:r>
              <a:rPr lang="en-US" dirty="0" err="1"/>
              <a:t>powerpoint</a:t>
            </a:r>
            <a:r>
              <a:rPr lang="en-US" dirty="0"/>
              <a:t> to put your answers and your results</a:t>
            </a:r>
          </a:p>
          <a:p>
            <a:pPr lvl="2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The final mark will depend on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the number of passed tests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the answers in this </a:t>
            </a:r>
            <a:r>
              <a:rPr lang="en-US" dirty="0" err="1"/>
              <a:t>powerpoint</a:t>
            </a:r>
            <a:endParaRPr lang="en-US" dirty="0"/>
          </a:p>
          <a:p>
            <a:pPr lvl="2">
              <a:lnSpc>
                <a:spcPct val="120000"/>
              </a:lnSpc>
            </a:pPr>
            <a:r>
              <a:rPr lang="en-US" dirty="0"/>
              <a:t>the figures in this </a:t>
            </a:r>
            <a:r>
              <a:rPr lang="en-US" dirty="0" err="1"/>
              <a:t>powerpoint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CA6AF5-E0B7-0CD9-C767-45D1678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A129E9-BEB8-71D7-AF7F-9EA7E9EE9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works outline</a:t>
            </a:r>
          </a:p>
        </p:txBody>
      </p:sp>
    </p:spTree>
    <p:extLst>
      <p:ext uri="{BB962C8B-B14F-4D97-AF65-F5344CB8AC3E}">
        <p14:creationId xmlns:p14="http://schemas.microsoft.com/office/powerpoint/2010/main" val="2853077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CC67E-DC91-BB54-3822-271A6E088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D6ABD3-B072-853B-D455-84998EE629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Positioning accuracy leaderboard🏅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 leaderboard will be updated with the accuracy of your best solution for each algorithm</a:t>
            </a:r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Treasure hunt 💰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We added a playful challenge that you can solve if you reach the goals of all the project.</a:t>
            </a:r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The folder “data/</a:t>
            </a:r>
            <a:r>
              <a:rPr lang="en-US" dirty="0" err="1"/>
              <a:t>treasure_hunt</a:t>
            </a:r>
            <a:r>
              <a:rPr lang="en-US" dirty="0"/>
              <a:t>” contains some particular GNSS observations.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Each group shall choose </a:t>
            </a:r>
            <a:r>
              <a:rPr lang="en-US"/>
              <a:t>a couple of files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Try to process them with your different positioning algorithms to unlock clues!!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07936A-04F5-D74C-246C-9F4D897E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B08AD8-EAD9-9D31-F960-E72073A60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works outline</a:t>
            </a:r>
          </a:p>
        </p:txBody>
      </p:sp>
    </p:spTree>
    <p:extLst>
      <p:ext uri="{BB962C8B-B14F-4D97-AF65-F5344CB8AC3E}">
        <p14:creationId xmlns:p14="http://schemas.microsoft.com/office/powerpoint/2010/main" val="2710805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dirty="0"/>
              <a:t>Chapter </a:t>
            </a:r>
            <a:r>
              <a:rPr lang="en-US" dirty="0"/>
              <a:t>0</a:t>
            </a:r>
            <a:r>
              <a:rPr dirty="0"/>
              <a:t>: </a:t>
            </a:r>
            <a:r>
              <a:rPr lang="en-US" dirty="0">
                <a:latin typeface="Consolas" panose="020B0609020204030204" pitchFamily="49" charset="0"/>
              </a:rPr>
              <a:t>pandas</a:t>
            </a:r>
            <a:endParaRPr dirty="0">
              <a:latin typeface="Consolas" panose="020B0609020204030204" pitchFamily="49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1014CAC-BFF3-451A-AF06-77505E4206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 questions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How many observations are there for GPS L1C signals from healthy satellites over 24 hours?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What is the min/max value of the </a:t>
            </a:r>
            <a:r>
              <a:rPr lang="en-US" dirty="0" err="1"/>
              <a:t>iono</a:t>
            </a:r>
            <a:r>
              <a:rPr lang="en-US" dirty="0"/>
              <a:t> delay?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Paste your figure generated by </a:t>
            </a:r>
            <a:r>
              <a:rPr lang="en-US" sz="1600" dirty="0" err="1">
                <a:latin typeface="Consolas" panose="020B0609020204030204" pitchFamily="49" charset="0"/>
              </a:rPr>
              <a:t>plot_nsat_vs_elevation_mask</a:t>
            </a:r>
            <a:endParaRPr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145D9-416E-CCF3-11E7-A2B69680E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D75F-D8EA-60D4-73FD-E13BB158C8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dirty="0"/>
              <a:t>Chapter 1: SPP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2C91B4B-77FA-8C2D-1EB5-A71AC80EFD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58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3F8FC-2B86-FC4D-430B-04AE765EE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AE387-801C-BA1C-AA25-449522AF5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SPP solution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5CC51-5525-A54D-4F22-0929C0D15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4975" indent="-342900">
              <a:buFont typeface="Arial" panose="020B0604020202020204" pitchFamily="34" charset="0"/>
              <a:buChar char="•"/>
            </a:pPr>
            <a:r>
              <a:rPr dirty="0"/>
              <a:t>Paste your ENU error figure.</a:t>
            </a:r>
            <a:endParaRPr lang="en-US" dirty="0"/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Include your score.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Comment the statistical description of the positioning error.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4257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SPP residuals (optional)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Paste your estimation residual figure.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Describe the statistical properties of the residuals.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Which factors contribute to large residuals?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140A-FB7C-E879-1A03-E0DC0E32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E7D9C-0DAF-0C73-641F-92F94B76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Improved SPP solution (optional)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47D9F-4161-B7A1-B118-FD6BB1BC7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4975" indent="-342900">
              <a:buFont typeface="Arial" panose="020B0604020202020204" pitchFamily="34" charset="0"/>
              <a:buChar char="•"/>
            </a:pPr>
            <a:r>
              <a:rPr dirty="0"/>
              <a:t>Paste your ENU error figure</a:t>
            </a:r>
            <a:r>
              <a:rPr lang="en-US" dirty="0"/>
              <a:t> for the improved SPP solution</a:t>
            </a:r>
            <a:r>
              <a:rPr dirty="0"/>
              <a:t>.</a:t>
            </a:r>
            <a:endParaRPr lang="en-US" dirty="0"/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Include your score.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Comment the statistical description of the positioning error.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Why has it improved?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8516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2E68C-590F-E4A7-CCF9-AC42690C7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37364-3B22-8AAA-4369-C6D57A1BF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SPP - Treasure hunt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BF4FD-49E4-A6DD-7741-40C062FA4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4975" indent="-342900">
              <a:buFont typeface="Arial" panose="020B0604020202020204" pitchFamily="34" charset="0"/>
              <a:buChar char="•"/>
            </a:pPr>
            <a:r>
              <a:rPr dirty="0"/>
              <a:t>Paste your ENU error figure</a:t>
            </a:r>
            <a:r>
              <a:rPr lang="en-US" dirty="0"/>
              <a:t> for SPP solution on the longitude file of the treasure hunt</a:t>
            </a:r>
          </a:p>
        </p:txBody>
      </p:sp>
    </p:spTree>
    <p:extLst>
      <p:ext uri="{BB962C8B-B14F-4D97-AF65-F5344CB8AC3E}">
        <p14:creationId xmlns:p14="http://schemas.microsoft.com/office/powerpoint/2010/main" val="3465947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dirty="0"/>
              <a:t>Chapter 2: DGNSS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DGNSS solution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Paste your ENU error figure.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Include your score.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Comment the statistical description of the positioning error.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Which errors were reduced by differential corrections?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1D8DC-4B55-716A-FAF6-A74DD003E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5E787-5CF4-A89D-2A20-A1B3FC59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DGNSS residuals (optional)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8CCB6-7967-C324-52F1-7DE93CD60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Paste your estimation residual figure.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Compared to SPP, which errors were reduced by differential corrections?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Did any error sources increase? </a:t>
            </a:r>
          </a:p>
        </p:txBody>
      </p:sp>
    </p:spTree>
    <p:extLst>
      <p:ext uri="{BB962C8B-B14F-4D97-AF65-F5344CB8AC3E}">
        <p14:creationId xmlns:p14="http://schemas.microsoft.com/office/powerpoint/2010/main" val="1896970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51C9C-8693-284C-7DA7-F6199ECA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68DA8-368F-0FCF-506D-E025E405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DGNSS - Treasure hunt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41BA1-B1AF-9E94-E685-FC08431AD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4975" indent="-342900">
              <a:buFont typeface="Arial" panose="020B0604020202020204" pitchFamily="34" charset="0"/>
              <a:buChar char="•"/>
            </a:pPr>
            <a:r>
              <a:rPr dirty="0"/>
              <a:t>Paste your ENU error figure</a:t>
            </a:r>
            <a:r>
              <a:rPr lang="en-US" dirty="0"/>
              <a:t> for DGNSS solution on the </a:t>
            </a:r>
            <a:r>
              <a:rPr lang="en-US" u="sng" dirty="0"/>
              <a:t>longitude</a:t>
            </a:r>
            <a:r>
              <a:rPr lang="en-US" dirty="0"/>
              <a:t> file of the treasure hunt</a:t>
            </a:r>
          </a:p>
        </p:txBody>
      </p:sp>
    </p:spTree>
    <p:extLst>
      <p:ext uri="{BB962C8B-B14F-4D97-AF65-F5344CB8AC3E}">
        <p14:creationId xmlns:p14="http://schemas.microsoft.com/office/powerpoint/2010/main" val="3439539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dirty="0"/>
              <a:t>Chapter 3: RTK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Cycle slips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4975" indent="-342900">
              <a:buFontTx/>
              <a:buChar char="-"/>
            </a:pPr>
            <a:r>
              <a:rPr lang="en-US" dirty="0"/>
              <a:t>How many cycle slips have been detected by the rover and base receivers?</a:t>
            </a:r>
          </a:p>
          <a:p>
            <a:pPr marL="434975" indent="-342900">
              <a:buFontTx/>
              <a:buChar char="-"/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3C99D-6D58-31AE-AB4C-B106E589C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FE714-FEC8-B82F-D3D7-4329DB1EF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40" y="78768"/>
            <a:ext cx="7683870" cy="539991"/>
          </a:xfrm>
        </p:spPr>
        <p:txBody>
          <a:bodyPr/>
          <a:lstStyle/>
          <a:p>
            <a:r>
              <a:rPr lang="en-US" dirty="0"/>
              <a:t>Batch problem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5AE5F-3D77-5830-3606-EBB22BEB7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734464"/>
            <a:ext cx="8424863" cy="4144070"/>
          </a:xfrm>
        </p:spPr>
        <p:txBody>
          <a:bodyPr/>
          <a:lstStyle/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For a clean interval, what is the size of the problem:</a:t>
            </a:r>
          </a:p>
          <a:p>
            <a:pPr marL="694350" lvl="1" indent="-342900"/>
            <a:r>
              <a:rPr lang="en-US" dirty="0"/>
              <a:t>number of epochs in the selected interval,</a:t>
            </a:r>
          </a:p>
          <a:p>
            <a:pPr marL="694350" lvl="1" indent="-342900"/>
            <a:r>
              <a:rPr lang="en-US" dirty="0"/>
              <a:t>total number of observations,</a:t>
            </a:r>
          </a:p>
          <a:p>
            <a:pPr marL="694350" lvl="1" indent="-342900"/>
            <a:r>
              <a:rPr lang="en-US" dirty="0"/>
              <a:t>total number of states (position, clock, ambiguities).</a:t>
            </a:r>
          </a:p>
        </p:txBody>
      </p:sp>
    </p:spTree>
    <p:extLst>
      <p:ext uri="{BB962C8B-B14F-4D97-AF65-F5344CB8AC3E}">
        <p14:creationId xmlns:p14="http://schemas.microsoft.com/office/powerpoint/2010/main" val="289783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64C98-9A71-C00F-1F61-41CA4C86C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AA19-2A4D-3D03-3C39-814D0BFAC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RTK solution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34A02-E414-2F3A-3F51-2643D2C95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Paste your ENU error figure.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Include your score.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Comment the statistical description of the positioning error.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What is the strongest assumption to be able to use this positioning algorithm?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Comment on the validity of such assumption for different classes of users: smartphones, automotive, aviation, geodesy</a:t>
            </a:r>
          </a:p>
        </p:txBody>
      </p:sp>
    </p:spTree>
    <p:extLst>
      <p:ext uri="{BB962C8B-B14F-4D97-AF65-F5344CB8AC3E}">
        <p14:creationId xmlns:p14="http://schemas.microsoft.com/office/powerpoint/2010/main" val="3282425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E8F0-6E25-AB95-ACB7-C3EC95772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DB59C-805D-D065-AAC8-A89520ED5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RTK solution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70775-B392-908D-9A58-67D08F96D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Paste your ENU error figure.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Include your score.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Comment the statistical description of the positioning error.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What is the strongest assumption to be able to use this positioning algorithm?</a:t>
            </a:r>
          </a:p>
          <a:p>
            <a:pPr marL="434975" indent="-342900">
              <a:buFont typeface="Arial" panose="020B0604020202020204" pitchFamily="34" charset="0"/>
              <a:buChar char="•"/>
            </a:pPr>
            <a:r>
              <a:rPr lang="en-US" dirty="0"/>
              <a:t>Comment on the validity of such assumption for different classes of users: smartphones, automotive, aviation, geodesy</a:t>
            </a:r>
          </a:p>
        </p:txBody>
      </p:sp>
    </p:spTree>
    <p:extLst>
      <p:ext uri="{BB962C8B-B14F-4D97-AF65-F5344CB8AC3E}">
        <p14:creationId xmlns:p14="http://schemas.microsoft.com/office/powerpoint/2010/main" val="12287021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3C48A-4A95-9F6B-FED7-D4A1E5E60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B15AE-5F60-C17C-63DA-CA1C8CC9B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RTK - Treasure hunt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0952E-9F7A-B3C3-015A-C0D7E12C7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4975" indent="-342900">
              <a:buFont typeface="Arial" panose="020B0604020202020204" pitchFamily="34" charset="0"/>
              <a:buChar char="•"/>
            </a:pPr>
            <a:r>
              <a:rPr dirty="0"/>
              <a:t>Paste your ENU error figure</a:t>
            </a:r>
            <a:r>
              <a:rPr lang="en-US" dirty="0"/>
              <a:t> for RTK solution on the </a:t>
            </a:r>
            <a:r>
              <a:rPr lang="en-US" u="sng" dirty="0"/>
              <a:t>latitude</a:t>
            </a:r>
            <a:r>
              <a:rPr lang="en-US" dirty="0"/>
              <a:t> file of the treasure hunt</a:t>
            </a:r>
          </a:p>
        </p:txBody>
      </p:sp>
    </p:spTree>
    <p:extLst>
      <p:ext uri="{BB962C8B-B14F-4D97-AF65-F5344CB8AC3E}">
        <p14:creationId xmlns:p14="http://schemas.microsoft.com/office/powerpoint/2010/main" val="1986738697"/>
      </p:ext>
    </p:extLst>
  </p:cSld>
  <p:clrMapOvr>
    <a:masterClrMapping/>
  </p:clrMapOvr>
</p:sld>
</file>

<file path=ppt/theme/theme1.xml><?xml version="1.0" encoding="utf-8"?>
<a:theme xmlns:a="http://schemas.openxmlformats.org/drawingml/2006/main" name="PREMIER MINISTR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Personnalisé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9A67686B-987B-8C4D-A4BE-8A035A8D8FB8}" vid="{650DAEF3-172B-864B-85A7-FC49D7B48E1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D73C01E2C3C240914700E2E9761F42" ma:contentTypeVersion="14" ma:contentTypeDescription="Crée un document." ma:contentTypeScope="" ma:versionID="4098584408c07b56eb2fedd7f435addc">
  <xsd:schema xmlns:xsd="http://www.w3.org/2001/XMLSchema" xmlns:xs="http://www.w3.org/2001/XMLSchema" xmlns:p="http://schemas.microsoft.com/office/2006/metadata/properties" xmlns:ns3="74d90bcf-8a5c-4e30-9504-ae0dacdb0d4e" xmlns:ns4="46856cfa-013b-4727-ae15-f41dfcbb3acd" targetNamespace="http://schemas.microsoft.com/office/2006/metadata/properties" ma:root="true" ma:fieldsID="64aeb4d8a1b42202ff6edcbfd26afc57" ns3:_="" ns4:_="">
    <xsd:import namespace="74d90bcf-8a5c-4e30-9504-ae0dacdb0d4e"/>
    <xsd:import namespace="46856cfa-013b-4727-ae15-f41dfcbb3ac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d90bcf-8a5c-4e30-9504-ae0dacdb0d4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56cfa-013b-4727-ae15-f41dfcbb3a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7E7EDB-DB6E-4048-BF99-965BF1698267}">
  <ds:schemaRefs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www.w3.org/XML/1998/namespace"/>
    <ds:schemaRef ds:uri="74d90bcf-8a5c-4e30-9504-ae0dacdb0d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46856cfa-013b-4727-ae15-f41dfcbb3acd"/>
  </ds:schemaRefs>
</ds:datastoreItem>
</file>

<file path=customXml/itemProps2.xml><?xml version="1.0" encoding="utf-8"?>
<ds:datastoreItem xmlns:ds="http://schemas.openxmlformats.org/officeDocument/2006/customXml" ds:itemID="{F9B7D452-DC6F-4ED4-9C1A-40F83665FE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d90bcf-8a5c-4e30-9504-ae0dacdb0d4e"/>
    <ds:schemaRef ds:uri="46856cfa-013b-4727-ae15-f41dfcbb3a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9689C1E-D354-4A6D-BB28-1C722954174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PREMIER MINISTRE</Template>
  <TotalTime>0</TotalTime>
  <Words>961</Words>
  <Application>Microsoft Office PowerPoint</Application>
  <PresentationFormat>On-screen Show (16:9)</PresentationFormat>
  <Paragraphs>203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Consolas</vt:lpstr>
      <vt:lpstr>Wingdings</vt:lpstr>
      <vt:lpstr>PREMIER MINISTRE</vt:lpstr>
      <vt:lpstr>PowerPoint Presentation</vt:lpstr>
      <vt:lpstr>Positioning Algorithm</vt:lpstr>
      <vt:lpstr>Positioning Algorithm</vt:lpstr>
      <vt:lpstr>Positioning Algorithm</vt:lpstr>
      <vt:lpstr>Positioning Algorithm</vt:lpstr>
      <vt:lpstr>Practical works outline</vt:lpstr>
      <vt:lpstr>Practical works outline</vt:lpstr>
      <vt:lpstr>Practical works outline</vt:lpstr>
      <vt:lpstr>Practical works outline</vt:lpstr>
      <vt:lpstr>Chapter 0: pandas</vt:lpstr>
      <vt:lpstr>Misc questions</vt:lpstr>
      <vt:lpstr>Chapter 1: SPP</vt:lpstr>
      <vt:lpstr>SPP solution</vt:lpstr>
      <vt:lpstr>SPP residuals (optional)</vt:lpstr>
      <vt:lpstr>Improved SPP solution (optional)</vt:lpstr>
      <vt:lpstr>SPP - Treasure hunt</vt:lpstr>
      <vt:lpstr>Chapter 2: DGNSS</vt:lpstr>
      <vt:lpstr>DGNSS solution</vt:lpstr>
      <vt:lpstr>DGNSS residuals (optional)</vt:lpstr>
      <vt:lpstr>DGNSS - Treasure hunt</vt:lpstr>
      <vt:lpstr>Chapter 3: RTK</vt:lpstr>
      <vt:lpstr>Cycle slips</vt:lpstr>
      <vt:lpstr>Batch problem size</vt:lpstr>
      <vt:lpstr>RTK solution</vt:lpstr>
      <vt:lpstr>RTK solution</vt:lpstr>
      <vt:lpstr>RTK - Treasure hunt</vt:lpstr>
    </vt:vector>
  </TitlesOfParts>
  <Manager>Client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>Client</dc:subject>
  <dc:creator>Jerome ESPENAN</dc:creator>
  <cp:lastModifiedBy>Paul THEVENON</cp:lastModifiedBy>
  <cp:revision>125</cp:revision>
  <dcterms:created xsi:type="dcterms:W3CDTF">2020-11-04T09:30:33Z</dcterms:created>
  <dcterms:modified xsi:type="dcterms:W3CDTF">2025-11-20T13:20:47Z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0x010100ECD73C01E2C3C240914700E2E9761F42</vt:lpwstr>
  </property>
</Properties>
</file>